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9" r:id="rId6"/>
    <p:sldId id="270" r:id="rId7"/>
    <p:sldId id="260" r:id="rId8"/>
    <p:sldId id="261" r:id="rId9"/>
    <p:sldId id="262" r:id="rId10"/>
    <p:sldId id="263" r:id="rId11"/>
    <p:sldId id="271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position: 'relative', background: '#0F172A' }}&gt;&#10;  &lt;Image src=&quot;assets/pcba_3d.png&quot; style={{ position: 'absolute', top: 0, right: 0, width: '1280px', height: '720px', objectFit: 'cover', opacity: 0.95 }} /&gt;&#10;  &lt;Box style={{ position: 'absolute', top: 0, left: 0, width: '760px', height: '720px', background: 'linear-gradient(90deg, rgba(15,23,42,0.90) 0%, rgba(15,23,42,0.55) 70%, rgba(15,23,42,0.00) 100%)' }} /&gt;&#10;  &lt;Box style={{ position: 'relative', zIndex: 2, width: '620px', height: '720px', padding: '80px 60px 60px 60px', flexDirection: 'column', justifyContent: 'center', gap: 26 }}&gt;&#10;    &lt;Box style={{ width: 64, height: 6, background: '#2563EB' }} /&gt;&#10;    &lt;Text style={{ fontSize: 72, fontWeight: 'bold', color: '#FFFFFF', lineHeight: 1.12, fontFamily: 'Source Han Sans CN, sans-serif' }}&gt;&#10;      STM32&lt;br /&gt;双模游戏手柄&#10;    &lt;/Text&gt;&#10;    &lt;Text style={{ fontSize: 28, color: '#CBD5E1', lineHeight: 1.5, fontFamily: 'Source Han Sans CN, sans-serif' }}&gt;&#10;      从一张原理图，到一块能用的手柄&#10;    &lt;/Text&gt;&#10;    &lt;Text style={{ fontSize: 18, color: '#94A3B8', marginTop: 32, fontFamily: 'JetBrains Mono, monospace' }}&gt;&#10;      STM32F103C8T6 · USB HID · 蓝牙串口 · OLED · Flash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 amt="95000"/>
          </a:blip>
          <a:srcRect t="9035" b="90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矩形 3"/>
          <p:cNvSpPr/>
          <p:nvPr/>
        </p:nvSpPr>
        <p:spPr>
          <a:xfrm>
            <a:off x="0" y="0"/>
            <a:ext cx="7239000" cy="6858000"/>
          </a:xfrm>
          <a:prstGeom prst="rect">
            <a:avLst/>
          </a:prstGeom>
          <a:gradFill>
            <a:gsLst>
              <a:gs pos="0">
                <a:srgbClr val="0F172A">
                  <a:alpha val="90000"/>
                </a:srgbClr>
              </a:gs>
              <a:gs pos="70000">
                <a:srgbClr val="0F172A">
                  <a:alpha val="55000"/>
                </a:srgbClr>
              </a:gs>
              <a:gs pos="100000">
                <a:srgbClr val="0F172A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5" name="矩形 4"/>
          <p:cNvSpPr/>
          <p:nvPr/>
        </p:nvSpPr>
        <p:spPr>
          <a:xfrm>
            <a:off x="571500" y="1600200"/>
            <a:ext cx="60960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571500" y="1905000"/>
            <a:ext cx="4762500" cy="1847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2000"/>
              </a:lnSpc>
            </a:pPr>
            <a:r>
              <a:rPr lang="en-US" sz="5400" b="1">
                <a:solidFill>
                  <a:srgbClr val="FFFFFF"/>
                </a:solidFill>
                <a:latin typeface="Source Han Sans CN"/>
                <a:ea typeface="Source Han Sans CN"/>
              </a:rPr>
              <a:t>STM32</a:t>
            </a:r>
            <a:endParaRPr/>
          </a:p>
          <a:p>
            <a:pPr>
              <a:lnSpc>
                <a:spcPct val="112000"/>
              </a:lnSpc>
            </a:pPr>
            <a:r>
              <a:rPr lang="zh-CN" sz="5400" b="1">
                <a:solidFill>
                  <a:srgbClr val="FFFFFF"/>
                </a:solidFill>
                <a:latin typeface="Source Han Sans CN"/>
                <a:ea typeface="Source Han Sans CN"/>
              </a:rPr>
              <a:t>双模游戏手柄</a:t>
            </a:r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571500" y="4000500"/>
            <a:ext cx="47625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2100">
                <a:solidFill>
                  <a:srgbClr val="CBD5E1"/>
                </a:solidFill>
                <a:latin typeface="Source Han Sans CN"/>
                <a:ea typeface="Source Han Sans CN"/>
              </a:rPr>
              <a:t>从一张原理图，到一块能用的手柄</a:t>
            </a:r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571500" y="5038725"/>
            <a:ext cx="476250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94A3B8"/>
                </a:solidFill>
                <a:latin typeface="JetBrains Mono"/>
                <a:ea typeface="JetBrains Mono"/>
              </a:rPr>
              <a:t>STM32F103C8T6 · USB HID · </a:t>
            </a:r>
            <a:r>
              <a:rPr lang="zh-CN" sz="1350">
                <a:solidFill>
                  <a:srgbClr val="94A3B8"/>
                </a:solidFill>
                <a:latin typeface="JetBrains Mono"/>
                <a:ea typeface="JetBrains Mono"/>
              </a:rPr>
              <a:t>蓝牙串口</a:t>
            </a:r>
            <a:r>
              <a:rPr lang="en-US" sz="1350">
                <a:solidFill>
                  <a:srgbClr val="94A3B8"/>
                </a:solidFill>
                <a:latin typeface="JetBrains Mono"/>
                <a:ea typeface="JetBrains Mono"/>
              </a:rPr>
              <a:t> · OLED · Flash</a:t>
            </a:r>
            <a:endParaRPr/>
          </a:p>
        </p:txBody>
      </p:sp>
      <p:sp>
        <p:nvSpPr>
          <p:cNvPr id="9" name="AILabel"/>
          <p:cNvSpPr txBox="1"/>
          <p:nvPr/>
        </p:nvSpPr>
        <p:spPr>
          <a:xfrm>
            <a:off x="9612000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</a:t>
            </a:r>
            <a:r>
              <a:rPr lang="zh-CN" sz="1400" b="1">
                <a:solidFill>
                  <a:srgbClr val="FFFFFF"/>
                </a:solidFill>
                <a:latin typeface="Arial"/>
                <a:ea typeface="SimSun"/>
              </a:rPr>
              <a:t>AI 生</a:t>
            </a:r>
            <a:endParaRPr lang="zh-CN" sz="1400" b="1" dirty="0">
              <a:solidFill>
                <a:srgbClr val="FFFFFF"/>
              </a:solidFill>
              <a:latin typeface="Arial"/>
              <a:ea typeface="SimSun"/>
            </a:endParaRPr>
          </a:p>
        </p:txBody>
      </p:sp>
      <p:sp>
        <p:nvSpPr>
          <p:cNvPr id="10" name="AILabel"/>
          <p:cNvSpPr txBox="1"/>
          <p:nvPr/>
        </p:nvSpPr>
        <p:spPr>
          <a:xfrm>
            <a:off x="9612000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  <p:sp>
        <p:nvSpPr>
          <p:cNvPr id="11" name="AILabel"/>
          <p:cNvSpPr txBox="1"/>
          <p:nvPr/>
        </p:nvSpPr>
        <p:spPr>
          <a:xfrm>
            <a:off x="9612000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20px 60px', background: '#F8FAFC', flexDirection: 'column' }}&gt;&#10;  &lt;Box style={{ height: 80, justifyContent: 'flex-start', alignItems: 'center' }}&gt;&#10;    &lt;Text style={{ fontSize: 36, fontWeight: 'bold', color: '#0F172A', fontFamily: 'Source Han Sans CN, sans-serif' }}&gt;成果速览&lt;/Text&gt;&#10;  &lt;/Box&gt;&#10;  &lt;Box style={{ height: 560, flexDirection: 'column', gap: 22 }}&gt;&#10;    &lt;Box style={{ height: 200, flexDirection: 'row', gap: 20 }}&gt;&#10;      {[&#10;        { n: '6', u: '路 ADC', d: '双摇杆 4 轴 + LT/RT 扳机' },&#10;        { n: '15', u: '个按键', d: '十字键 / ABXY / 肩键 / 功能键' },&#10;        { n: '100', u: 'Hz', d: '主循环帧率，10ms 周期' },&#10;        { n: '0', u: 'E 0 W', d: 'Keil 完整工程编译零告警' },&#10;      ].map((k, i) =&gt; (&#10;        &lt;Box key={i} style={{ flex: 1, flexDirection: 'column', gap: 8, padding: '20px 22px', background: '#FFFFFF', borderRadius: 10, boxShadow: '0 2px 12px rgba(0,0,0,0.06)', borderTop: '4px solid #2563EB' }}&gt;&#10;          &lt;Box style={{ flexDirection: 'row', alignItems: 'baseline', gap: 8 }}&gt;&#10;            &lt;Text style={{ fontSize: 82, fontWeight: 'bold', color: '#2563EB', lineHeight: 1, fontFamily: 'JetBrains Mono, monospace' }}&gt;{k.n}&lt;/Text&gt;&#10;            &lt;Text style={{ fontSize: 24, fontWeight: 'bold', color: '#0F172A', fontFamily: 'Source Han Sans CN, sans-serif' }}&gt;{k.u}&lt;/Text&gt;&#10;          &lt;/Box&gt;&#10;          &lt;Text style={{ fontSize: 17, color: '#334155', lineHeight: 1.5, fontFamily: 'Source Han Sans CN, sans-serif' }}&gt;{k.d}&lt;/Text&gt;&#10;        &lt;/Box&gt;&#10;      ))}&#10;    &lt;/Box&gt;&#10;    &lt;Box style={{ height: 338, flexDirection: 'row', gap: 32 }}&gt;&#10;      &lt;Box style={{ width: 420, padding: '24px 24px', background: '#0F172A', borderRadius: 10, flexDirection: 'column', gap: 12, justifyContent: 'center' }}&gt;&#10;        &lt;Text style={{ fontSize: 24, fontWeight: 'bold', color: '#FFFFFF', lineHeight: 1.45, fontFamily: 'Source Han Sans CN, sans-serif' }}&gt;&#10;          独立完成原理图设计、PCB 打样与固件开发&#10;        &lt;/Text&gt;&#10;        &lt;Text style={{ fontSize: 18, color: '#CBD5E1', lineHeight: 1.6, fontFamily: 'Source Han Sans CN, sans-serif' }}&gt;&#10;          USB 接 PC 即插即用，蓝牙串口接小车与手机，OLED 实时显示手柄状态，参数断电不丢失。&#10;        &lt;/Text&gt;&#10;      &lt;/Box&gt;&#10;      &lt;Box style={{ flex: 1, flexDirection: 'column', gap: 12, justifyContent: 'center' }}&gt;&#10;        {[&#10;          { t: '双模通信', d: 'USB HID 8 字节报告 + HC-05 蓝牙串口 115200，View 键一键切换。' },&#10;          { t: '摇杆手感', d: '过采样 + 自适应量程 + 死区处理，屏幕显示与 PC 读数同源。' },&#10;          { t: '断电保存', d: 'Flash 最后一页存储配置，magic / version / CRC16 三重校验。' },&#10;          { t: '可视化调试', d: 'OLED 测试界面左右对称，蓝牙每 0.5 秒输出 6 路原始值。' },&#10;        ].map((r, i) =&gt; (&#10;          &lt;Box key={i} style={{ flexDirection: 'row', gap: 14, padding: '12px 18px', background: '#FFFFFF', borderRadius: 8, boxShadow: '0 1px 8px rgba(0,0,0,0.05)', alignItems: 'flex-start' }}&gt;&#10;            &lt;Text style={{ width: 90, fontSize: 17, fontWeight: 'bold', color: '#2563EB', fontFamily: 'Source Han Sans CN, sans-serif' }}&gt;{r.t}&lt;/Text&gt;&#10;            &lt;Text style={{ flex: 1, fontSize: 17, color: '#334155', lineHeight: 1.5, fontFamily: 'Source Han Sans CN, sans-serif' }}&gt;{r.d}&lt;/Text&gt;&#10;          &lt;/Box&gt;&#10;        ))}&#10;      &lt;/Box&gt;&#10;    &lt;/Box&gt;&#10;  &lt;/Box&gt;&#10;  &lt;Box style={{ height: 40, flexDirection: 'row', justifyContent: 'space-between', alignItems: 'center' }}&gt;&#10;    &lt;Text style={{ fontSize: 14, color: '#64748B', fontFamily: 'JetBrains Mono, monospace' }}&gt;STM32 双模游戏手柄 · 成果展示&lt;/Text&gt;&#10;    &lt;Text style={{ fontSize: 14, color: '#64748B', fontFamily: 'JetBrains Mono, monospace' }}&gt;02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矩形 1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5410200" y="190500"/>
            <a:ext cx="13716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Source Han Sans CN"/>
                <a:ea typeface="Source Han Sans CN"/>
              </a:rPr>
              <a:t>成果速览</a:t>
            </a:r>
            <a:endParaRPr/>
          </a:p>
        </p:txBody>
      </p:sp>
      <p:sp>
        <p:nvSpPr>
          <p:cNvPr id="126" name="矩形: 圆角 125"/>
          <p:cNvSpPr/>
          <p:nvPr/>
        </p:nvSpPr>
        <p:spPr>
          <a:xfrm>
            <a:off x="571500" y="990600"/>
            <a:ext cx="2619375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7" name="任意多边形: 形状 126"/>
          <p:cNvSpPr/>
          <p:nvPr/>
        </p:nvSpPr>
        <p:spPr>
          <a:xfrm>
            <a:off x="571500" y="990600"/>
            <a:ext cx="2619375" cy="1905000"/>
          </a:xfrm>
          <a:custGeom>
            <a:avLst/>
            <a:gdLst/>
            <a:ahLst/>
            <a:cxnLst/>
            <a:rect l="0" t="0" r="0" b="0"/>
            <a:pathLst>
              <a:path w="275" h="200">
                <a:moveTo>
                  <a:pt x="265" y="0"/>
                </a:moveTo>
                <a:cubicBezTo>
                  <a:pt x="270" y="0"/>
                  <a:pt x="274" y="4"/>
                  <a:pt x="275" y="8"/>
                </a:cubicBezTo>
                <a:cubicBezTo>
                  <a:pt x="274" y="6"/>
                  <a:pt x="272" y="4"/>
                  <a:pt x="269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781050" y="1181100"/>
            <a:ext cx="476250" cy="942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150" b="1">
                <a:solidFill>
                  <a:srgbClr val="2563EB"/>
                </a:solidFill>
                <a:latin typeface="JetBrains Mono"/>
                <a:ea typeface="JetBrains Mono"/>
              </a:rPr>
              <a:t>6</a:t>
            </a:r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1333500" y="1181100"/>
            <a:ext cx="781050" cy="942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Source Han Sans CN"/>
                <a:ea typeface="Source Han Sans CN"/>
              </a:rPr>
              <a:t>路</a:t>
            </a:r>
            <a:r>
              <a:rPr lang="en-US" sz="1800" b="1">
                <a:solidFill>
                  <a:srgbClr val="0F172A"/>
                </a:solidFill>
                <a:latin typeface="Source Han Sans CN"/>
                <a:ea typeface="Source Han Sans CN"/>
              </a:rPr>
              <a:t> ADC</a:t>
            </a:r>
            <a:endParaRPr/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781050" y="2200275"/>
            <a:ext cx="22002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双摇杆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4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轴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+ LT/RT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扳机</a:t>
            </a:r>
            <a:endParaRPr/>
          </a:p>
        </p:txBody>
      </p:sp>
      <p:sp>
        <p:nvSpPr>
          <p:cNvPr id="131" name="矩形: 圆角 130"/>
          <p:cNvSpPr/>
          <p:nvPr/>
        </p:nvSpPr>
        <p:spPr>
          <a:xfrm>
            <a:off x="3381375" y="990600"/>
            <a:ext cx="2619375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2" name="任意多边形: 形状 131"/>
          <p:cNvSpPr/>
          <p:nvPr/>
        </p:nvSpPr>
        <p:spPr>
          <a:xfrm>
            <a:off x="3381375" y="990600"/>
            <a:ext cx="2619375" cy="1905000"/>
          </a:xfrm>
          <a:custGeom>
            <a:avLst/>
            <a:gdLst/>
            <a:ahLst/>
            <a:cxnLst/>
            <a:rect l="0" t="0" r="0" b="0"/>
            <a:pathLst>
              <a:path w="275" h="200">
                <a:moveTo>
                  <a:pt x="265" y="0"/>
                </a:moveTo>
                <a:cubicBezTo>
                  <a:pt x="270" y="0"/>
                  <a:pt x="274" y="4"/>
                  <a:pt x="275" y="8"/>
                </a:cubicBezTo>
                <a:cubicBezTo>
                  <a:pt x="274" y="6"/>
                  <a:pt x="272" y="4"/>
                  <a:pt x="269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3590925" y="1181100"/>
            <a:ext cx="942975" cy="942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150" b="1">
                <a:solidFill>
                  <a:srgbClr val="2563EB"/>
                </a:solidFill>
                <a:latin typeface="JetBrains Mono"/>
                <a:ea typeface="JetBrains Mono"/>
              </a:rPr>
              <a:t>15</a:t>
            </a:r>
            <a:endParaRPr/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4610100" y="1181100"/>
            <a:ext cx="685800" cy="942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Source Han Sans CN"/>
                <a:ea typeface="Source Han Sans CN"/>
              </a:rPr>
              <a:t>个按键</a:t>
            </a:r>
            <a:endParaRPr/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3590925" y="2200275"/>
            <a:ext cx="22002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十字键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/ ABXY /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肩键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/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功能键</a:t>
            </a:r>
            <a:endParaRPr/>
          </a:p>
        </p:txBody>
      </p:sp>
      <p:sp>
        <p:nvSpPr>
          <p:cNvPr id="136" name="矩形: 圆角 135"/>
          <p:cNvSpPr/>
          <p:nvPr/>
        </p:nvSpPr>
        <p:spPr>
          <a:xfrm>
            <a:off x="6191250" y="990600"/>
            <a:ext cx="2619375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7" name="任意多边形: 形状 136"/>
          <p:cNvSpPr/>
          <p:nvPr/>
        </p:nvSpPr>
        <p:spPr>
          <a:xfrm>
            <a:off x="6191250" y="990600"/>
            <a:ext cx="2619375" cy="1905000"/>
          </a:xfrm>
          <a:custGeom>
            <a:avLst/>
            <a:gdLst/>
            <a:ahLst/>
            <a:cxnLst/>
            <a:rect l="0" t="0" r="0" b="0"/>
            <a:pathLst>
              <a:path w="275" h="200">
                <a:moveTo>
                  <a:pt x="265" y="0"/>
                </a:moveTo>
                <a:cubicBezTo>
                  <a:pt x="270" y="0"/>
                  <a:pt x="274" y="4"/>
                  <a:pt x="275" y="8"/>
                </a:cubicBezTo>
                <a:cubicBezTo>
                  <a:pt x="274" y="6"/>
                  <a:pt x="272" y="4"/>
                  <a:pt x="269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6400800" y="1181100"/>
            <a:ext cx="1409700" cy="942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150" b="1">
                <a:solidFill>
                  <a:srgbClr val="2563EB"/>
                </a:solidFill>
                <a:latin typeface="JetBrains Mono"/>
                <a:ea typeface="JetBrains Mono"/>
              </a:rPr>
              <a:t>100</a:t>
            </a:r>
            <a:endParaRPr/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7886700" y="1181100"/>
            <a:ext cx="295275" cy="942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72A"/>
                </a:solidFill>
                <a:latin typeface="Source Han Sans CN"/>
                <a:ea typeface="Source Han Sans CN"/>
              </a:rPr>
              <a:t>Hz</a:t>
            </a:r>
            <a:endParaRPr/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6400800" y="2200275"/>
            <a:ext cx="22002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主循环帧率，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10ms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周期</a:t>
            </a:r>
            <a:endParaRPr/>
          </a:p>
        </p:txBody>
      </p:sp>
      <p:sp>
        <p:nvSpPr>
          <p:cNvPr id="141" name="矩形: 圆角 140"/>
          <p:cNvSpPr/>
          <p:nvPr/>
        </p:nvSpPr>
        <p:spPr>
          <a:xfrm>
            <a:off x="9001125" y="990600"/>
            <a:ext cx="2619375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2" name="任意多边形: 形状 141"/>
          <p:cNvSpPr/>
          <p:nvPr/>
        </p:nvSpPr>
        <p:spPr>
          <a:xfrm>
            <a:off x="9001125" y="990600"/>
            <a:ext cx="2619375" cy="1905000"/>
          </a:xfrm>
          <a:custGeom>
            <a:avLst/>
            <a:gdLst/>
            <a:ahLst/>
            <a:cxnLst/>
            <a:rect l="0" t="0" r="0" b="0"/>
            <a:pathLst>
              <a:path w="275" h="200">
                <a:moveTo>
                  <a:pt x="265" y="0"/>
                </a:moveTo>
                <a:cubicBezTo>
                  <a:pt x="270" y="0"/>
                  <a:pt x="274" y="4"/>
                  <a:pt x="275" y="8"/>
                </a:cubicBezTo>
                <a:cubicBezTo>
                  <a:pt x="274" y="6"/>
                  <a:pt x="272" y="4"/>
                  <a:pt x="269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9210675" y="1181100"/>
            <a:ext cx="476250" cy="942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150" b="1">
                <a:solidFill>
                  <a:srgbClr val="2563EB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9763125" y="1181100"/>
            <a:ext cx="657225" cy="942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72A"/>
                </a:solidFill>
                <a:latin typeface="Source Han Sans CN"/>
                <a:ea typeface="Source Han Sans CN"/>
              </a:rPr>
              <a:t>E 0 W</a:t>
            </a:r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9210675" y="2200275"/>
            <a:ext cx="22002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Keil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完整工程编译零告警</a:t>
            </a:r>
            <a:endParaRPr/>
          </a:p>
        </p:txBody>
      </p:sp>
      <p:sp>
        <p:nvSpPr>
          <p:cNvPr id="146" name="矩形: 圆角 145"/>
          <p:cNvSpPr/>
          <p:nvPr/>
        </p:nvSpPr>
        <p:spPr>
          <a:xfrm>
            <a:off x="571500" y="3067050"/>
            <a:ext cx="4000500" cy="3219450"/>
          </a:xfrm>
          <a:prstGeom prst="roundRect">
            <a:avLst>
              <a:gd name="adj" fmla="val 295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800100" y="3724275"/>
            <a:ext cx="35433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FFFFFF"/>
                </a:solidFill>
                <a:latin typeface="Source Han Sans CN"/>
                <a:ea typeface="Source Han Sans CN"/>
              </a:rPr>
              <a:t>基于博主开源原理图，完成 PCB 打样与固件开发</a:t>
            </a:r>
            <a:r>
              <a:rPr lang="en-US" sz="1800" b="1">
                <a:solidFill>
                  <a:srgbClr val="FFFFFF"/>
                </a:solidFill>
                <a:latin typeface="Source Han Sans CN"/>
                <a:ea typeface="Source Han Sans CN"/>
              </a:rPr>
              <a:t/>
            </a:r>
            <a:r>
              <a:rPr lang="zh-CN" sz="1800" b="1">
                <a:solidFill>
                  <a:srgbClr val="FFFFFF"/>
                </a:solidFill>
                <a:latin typeface="Source Han Sans CN"/>
                <a:ea typeface="Source Han Sans CN"/>
              </a:rPr>
              <a:t/>
            </a:r>
            <a:endParaRPr/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800100" y="4638675"/>
            <a:ext cx="3543300" cy="990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350">
                <a:solidFill>
                  <a:srgbClr val="CBD5E1"/>
                </a:solidFill>
                <a:latin typeface="Source Han Sans CN"/>
                <a:ea typeface="Source Han Sans CN"/>
              </a:rPr>
              <a:t>USB </a:t>
            </a:r>
            <a:r>
              <a:rPr lang="zh-CN" sz="1350">
                <a:solidFill>
                  <a:srgbClr val="CBD5E1"/>
                </a:solidFill>
                <a:latin typeface="Source Han Sans CN"/>
                <a:ea typeface="Source Han Sans CN"/>
              </a:rPr>
              <a:t>接</a:t>
            </a:r>
            <a:r>
              <a:rPr lang="en-US" sz="1350">
                <a:solidFill>
                  <a:srgbClr val="CBD5E1"/>
                </a:solidFill>
                <a:latin typeface="Source Han Sans CN"/>
                <a:ea typeface="Source Han Sans CN"/>
              </a:rPr>
              <a:t> PC </a:t>
            </a:r>
            <a:r>
              <a:rPr lang="zh-CN" sz="1350">
                <a:solidFill>
                  <a:srgbClr val="CBD5E1"/>
                </a:solidFill>
                <a:latin typeface="Source Han Sans CN"/>
                <a:ea typeface="Source Han Sans CN"/>
              </a:rPr>
              <a:t>即插即用，蓝牙串口接小车与手机，</a:t>
            </a:r>
            <a:r>
              <a:rPr lang="en-US" sz="1350">
                <a:solidFill>
                  <a:srgbClr val="CBD5E1"/>
                </a:solidFill>
                <a:latin typeface="Source Han Sans CN"/>
                <a:ea typeface="Source Han Sans CN"/>
              </a:rPr>
              <a:t>OLED </a:t>
            </a:r>
            <a:r>
              <a:rPr lang="zh-CN" sz="1350">
                <a:solidFill>
                  <a:srgbClr val="CBD5E1"/>
                </a:solidFill>
                <a:latin typeface="Source Han Sans CN"/>
                <a:ea typeface="Source Han Sans CN"/>
              </a:rPr>
              <a:t>实时显示手柄状态，参数断电不丢失。</a:t>
            </a:r>
            <a:endParaRPr/>
          </a:p>
        </p:txBody>
      </p:sp>
      <p:sp>
        <p:nvSpPr>
          <p:cNvPr id="149" name="矩形: 圆角 148"/>
          <p:cNvSpPr/>
          <p:nvPr/>
        </p:nvSpPr>
        <p:spPr>
          <a:xfrm>
            <a:off x="4876800" y="3457575"/>
            <a:ext cx="67437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5048250" y="3571875"/>
            <a:ext cx="857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CN"/>
                <a:ea typeface="Source Han Sans CN"/>
              </a:rPr>
              <a:t>双模通信</a:t>
            </a:r>
            <a:endParaRPr/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6038850" y="3571875"/>
            <a:ext cx="54102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USB HID 8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字节报告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+ HC-05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蓝牙串口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115200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，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View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键一键切换。</a:t>
            </a:r>
            <a:endParaRPr/>
          </a:p>
        </p:txBody>
      </p:sp>
      <p:sp>
        <p:nvSpPr>
          <p:cNvPr id="152" name="矩形: 圆角 151"/>
          <p:cNvSpPr/>
          <p:nvPr/>
        </p:nvSpPr>
        <p:spPr>
          <a:xfrm>
            <a:off x="4876800" y="4095750"/>
            <a:ext cx="67437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5048250" y="4210050"/>
            <a:ext cx="857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CN"/>
                <a:ea typeface="Source Han Sans CN"/>
              </a:rPr>
              <a:t>摇杆手感</a:t>
            </a:r>
            <a:endParaRPr/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6038850" y="4210050"/>
            <a:ext cx="54102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过采样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+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自适应量程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+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死区处理，屏幕显示与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PC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读数同源。</a:t>
            </a:r>
            <a:endParaRPr/>
          </a:p>
        </p:txBody>
      </p:sp>
      <p:sp>
        <p:nvSpPr>
          <p:cNvPr id="155" name="矩形: 圆角 154"/>
          <p:cNvSpPr/>
          <p:nvPr/>
        </p:nvSpPr>
        <p:spPr>
          <a:xfrm>
            <a:off x="4876800" y="4733925"/>
            <a:ext cx="67437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5048250" y="4848225"/>
            <a:ext cx="857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CN"/>
                <a:ea typeface="Source Han Sans CN"/>
              </a:rPr>
              <a:t>断电保存</a:t>
            </a:r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6038850" y="4848225"/>
            <a:ext cx="54102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Flash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最后一页存储配置，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magic / version / CRC16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三重校验。</a:t>
            </a:r>
            <a:endParaRPr/>
          </a:p>
        </p:txBody>
      </p:sp>
      <p:sp>
        <p:nvSpPr>
          <p:cNvPr id="158" name="矩形: 圆角 157"/>
          <p:cNvSpPr/>
          <p:nvPr/>
        </p:nvSpPr>
        <p:spPr>
          <a:xfrm>
            <a:off x="4876800" y="5372100"/>
            <a:ext cx="67437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5048250" y="5486400"/>
            <a:ext cx="857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CN"/>
                <a:ea typeface="Source Han Sans CN"/>
              </a:rPr>
              <a:t>可视化调试</a:t>
            </a:r>
            <a:endParaRPr/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6038850" y="5486400"/>
            <a:ext cx="54102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OLED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测试界面左右对称，蓝牙每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0.5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秒输出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6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路原始值。</a:t>
            </a:r>
            <a:endParaRPr/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571500" y="6400800"/>
            <a:ext cx="2057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STM32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双模游戏手柄</a:t>
            </a: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 ·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成果展示</a:t>
            </a:r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11058525" y="64008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02 / 16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20px 60px', background: '#F8FAFC', flexDirection: 'column' }}&gt;&#10;  &lt;Box style={{ height: 80, justifyContent: 'flex-start', alignItems: 'center' }}&gt;&#10;    &lt;Text style={{ fontSize: 36, fontWeight: 'bold', color: '#0F172A', fontFamily: 'Source Han Sans CN, sans-serif' }}&gt;硬件：自己画的板子&lt;/Text&gt;&#10;  &lt;/Box&gt;&#10;  &lt;Box style={{ height: 560, flexDirection: 'row', gap: 36, alignItems: 'stretch' }}&gt;&#10;    &lt;Box style={{ width: 660, justifyContent: 'center', alignItems: 'center' }}&gt;&#10;      &lt;Image src=&quot;assets/pcba_3d.png&quot; style={{ width: '660px', height: '500px', objectFit: 'cover', borderRadius: 12, boxShadow: '0 4px 24px rgba(0,0,0,0.12)' }} /&gt;&#10;    &lt;/Box&gt;&#10;    &lt;Box style={{ flex: 1, flexDirection: 'column', gap: 14, justifyContent: 'center' }}&gt;&#10;      &lt;Text style={{ fontSize: 22, color: '#334155', lineHeight: 1.6, fontFamily: 'Source Han Sans CN, sans-serif' }}&gt;&#10;        原理图与 PCB 全部自主设计，嘉立创打样，实物已在手上并完成整机功能验证。&#10;      &lt;/Text&gt;&#10;      {[&#10;        { k: '主控', v: 'STM32F103C8T6，72MHz，64KB Flash / 20KB RAM' },&#10;        { k: '输入', v: '双摇杆模块 + 15 个轻触按键' },&#10;        { k: '显示', v: '0.96&quot; OLED 128×64，软 I2C PB12 / PB13' },&#10;        { k: '指示', v: 'WS2812B ×3 氛围灯，DIN 接 PA8' },&#10;        { k: '扩展', v: '顶部排母引出蓝牙与串口，HC-05 可插拔' },&#10;      ].map((r, i) =&gt; (&#10;        &lt;Box key={i} style={{ flexDirection: 'row', gap: 12, padding: '10px 16px', background: '#FFFFFF', borderRadius: 6, boxShadow: '0 1px 8px rgba(0,0,0,0.05)', alignItems: 'flex-start' }}&gt;&#10;          &lt;Text style={{ width: 52, fontSize: 17, fontWeight: 'bold', color: '#2563EB', fontFamily: 'Source Han Sans CN, sans-serif' }}&gt;{r.k}&lt;/Text&gt;&#10;          &lt;Text style={{ flex: 1, fontSize: 16, color: '#334155', lineHeight: 1.45, fontFamily: 'Source Han Sans CN, sans-serif' }}&gt;{r.v}&lt;/Text&gt;&#10;        &lt;/Box&gt;&#10;      ))}&#10;      &lt;Box style={{ padding: 14, background: '#0F172A', borderRadius: 8, marginTop: 4 }}&gt;&#10;        &lt;Text style={{ fontSize: 17, color: '#FFFFFF', lineHeight: 1.5, fontFamily: 'Source Han Sans CN, sans-serif' }}&gt;&#10;          &lt;span style={{ color: '#38BDF8', fontWeight: 'bold' }}&gt;板载 USB 直连 PC&lt;/span&gt;，无需额外下载器即可烧录与通信。&#10;        &lt;/Text&gt;&#10;      &lt;/Box&gt;&#10;    &lt;/Box&gt;&#10;  &lt;/Box&gt;&#10;  &lt;Box style={{ height: 40, flexDirection: 'row', justifyContent: 'space-between', alignItems: 'center' }}&gt;&#10;    &lt;Text style={{ fontSize: 14, color: '#64748B', fontFamily: 'JetBrains Mono, monospace' }}&gt;STM32 双模游戏手柄 · 成果展示&lt;/Text&gt;&#10;    &lt;Text style={{ fontSize: 14, color: '#64748B', fontFamily: 'JetBrains Mono, monospace' }}&gt;03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矩形 1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4552950" y="190500"/>
            <a:ext cx="30861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Source Han Sans CN"/>
                <a:ea typeface="Source Han Sans CN"/>
              </a:rPr>
              <a:t>硬件：基于博主开源原理图的板子</a:t>
            </a:r>
            <a:endParaRPr/>
          </a:p>
        </p:txBody>
      </p:sp>
      <p:pic>
        <p:nvPicPr>
          <p:cNvPr id="166" name="图片 165"/>
          <p:cNvPicPr>
            <a:picLocks noChangeAspect="1"/>
          </p:cNvPicPr>
          <p:nvPr/>
        </p:nvPicPr>
        <p:blipFill>
          <a:blip r:embed="rId2"/>
          <a:srcRect l="4686" r="4686"/>
          <a:stretch>
            <a:fillRect/>
          </a:stretch>
        </p:blipFill>
        <p:spPr>
          <a:xfrm>
            <a:off x="571500" y="1238250"/>
            <a:ext cx="6286500" cy="4762500"/>
          </a:xfrm>
          <a:prstGeom prst="roundRect">
            <a:avLst>
              <a:gd name="adj" fmla="val 2400"/>
            </a:avLst>
          </a:prstGeom>
          <a:ln/>
          <a:effectLst>
            <a:outerShdw blurRad="228600" dist="38100" dir="5400000">
              <a:srgbClr val="000000">
                <a:alpha val="12000"/>
              </a:srgbClr>
            </a:outerShdw>
          </a:effectLst>
        </p:spPr>
      </p:pic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200900" y="1371600"/>
            <a:ext cx="4419600" cy="809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334155"/>
                </a:solidFill>
                <a:latin typeface="Source Han Sans CN"/>
                <a:ea typeface="Source Han Sans CN"/>
              </a:rPr>
              <a:t>原理图基于博主开源设计，嘉立创打样，实物已在手上并完成整机功能验证。</a:t>
            </a:r>
            <a:r>
              <a:rPr lang="en-US" sz="1650">
                <a:solidFill>
                  <a:srgbClr val="334155"/>
                </a:solidFill>
                <a:latin typeface="Source Han Sans CN"/>
                <a:ea typeface="Source Han Sans CN"/>
              </a:rPr>
              <a:t/>
            </a:r>
            <a:r>
              <a:rPr lang="zh-CN" sz="1650">
                <a:solidFill>
                  <a:srgbClr val="334155"/>
                </a:solidFill>
                <a:latin typeface="Source Han Sans CN"/>
                <a:ea typeface="Source Han Sans CN"/>
              </a:rPr>
              <a:t/>
            </a:r>
            <a:endParaRPr/>
          </a:p>
        </p:txBody>
      </p:sp>
      <p:sp>
        <p:nvSpPr>
          <p:cNvPr id="168" name="矩形: 圆角 167"/>
          <p:cNvSpPr/>
          <p:nvPr/>
        </p:nvSpPr>
        <p:spPr>
          <a:xfrm>
            <a:off x="7200900" y="2314575"/>
            <a:ext cx="44196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7353300" y="2409825"/>
            <a:ext cx="495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CN"/>
                <a:ea typeface="Source Han Sans CN"/>
              </a:rPr>
              <a:t>主控</a:t>
            </a:r>
            <a:endParaRPr/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7962900" y="2409825"/>
            <a:ext cx="35052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STM32F103C8T6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，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72MHz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，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64KB Flash / 20KB RAM</a:t>
            </a:r>
            <a:endParaRPr/>
          </a:p>
        </p:txBody>
      </p:sp>
      <p:sp>
        <p:nvSpPr>
          <p:cNvPr id="171" name="矩形: 圆角 170"/>
          <p:cNvSpPr/>
          <p:nvPr/>
        </p:nvSpPr>
        <p:spPr>
          <a:xfrm>
            <a:off x="7200900" y="2905125"/>
            <a:ext cx="44196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7353300" y="3000375"/>
            <a:ext cx="495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CN"/>
                <a:ea typeface="Source Han Sans CN"/>
              </a:rPr>
              <a:t>输入</a:t>
            </a:r>
            <a:endParaRPr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7962900" y="3000375"/>
            <a:ext cx="35052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双摇杆模块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+ 15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个轻触按键</a:t>
            </a:r>
            <a:endParaRPr/>
          </a:p>
        </p:txBody>
      </p:sp>
      <p:sp>
        <p:nvSpPr>
          <p:cNvPr id="174" name="矩形: 圆角 173"/>
          <p:cNvSpPr/>
          <p:nvPr/>
        </p:nvSpPr>
        <p:spPr>
          <a:xfrm>
            <a:off x="7200900" y="3495675"/>
            <a:ext cx="44196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7353300" y="3590925"/>
            <a:ext cx="495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CN"/>
                <a:ea typeface="Source Han Sans CN"/>
              </a:rPr>
              <a:t>显示</a:t>
            </a:r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7962900" y="3590925"/>
            <a:ext cx="35052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0.96" OLED 128×64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，软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I2C PB03 / PB16</a:t>
            </a:r>
            <a:endParaRPr/>
          </a:p>
        </p:txBody>
      </p:sp>
      <p:sp>
        <p:nvSpPr>
          <p:cNvPr id="177" name="矩形: 圆角 176"/>
          <p:cNvSpPr/>
          <p:nvPr/>
        </p:nvSpPr>
        <p:spPr>
          <a:xfrm>
            <a:off x="7200900" y="4086225"/>
            <a:ext cx="44196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7353300" y="4181475"/>
            <a:ext cx="495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CN"/>
                <a:ea typeface="Source Han Sans CN"/>
              </a:rPr>
              <a:t>指示</a:t>
            </a:r>
            <a:endParaRPr/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7962900" y="4181475"/>
            <a:ext cx="35052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WS2812B ×3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氛围灯，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DIN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接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PA8</a:t>
            </a:r>
            <a:endParaRPr/>
          </a:p>
        </p:txBody>
      </p:sp>
      <p:sp>
        <p:nvSpPr>
          <p:cNvPr id="180" name="矩形: 圆角 179"/>
          <p:cNvSpPr/>
          <p:nvPr/>
        </p:nvSpPr>
        <p:spPr>
          <a:xfrm>
            <a:off x="7200900" y="4676775"/>
            <a:ext cx="44196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7353300" y="4772025"/>
            <a:ext cx="495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CN"/>
                <a:ea typeface="Source Han Sans CN"/>
              </a:rPr>
              <a:t>扩展</a:t>
            </a:r>
            <a:endParaRPr/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7962900" y="4772025"/>
            <a:ext cx="35052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顶部排母引出蓝牙与串口，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HC-05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可插拔</a:t>
            </a:r>
            <a:endParaRPr/>
          </a:p>
        </p:txBody>
      </p:sp>
      <p:sp>
        <p:nvSpPr>
          <p:cNvPr id="183" name="矩形: 圆角 182"/>
          <p:cNvSpPr/>
          <p:nvPr/>
        </p:nvSpPr>
        <p:spPr>
          <a:xfrm>
            <a:off x="7200900" y="5305425"/>
            <a:ext cx="4419600" cy="561975"/>
          </a:xfrm>
          <a:prstGeom prst="roundRect">
            <a:avLst>
              <a:gd name="adj" fmla="val 1355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7334250" y="5438775"/>
            <a:ext cx="41529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38BDF8"/>
                </a:solidFill>
                <a:latin typeface="Source Han Sans CN"/>
                <a:ea typeface="Source Han Sans CN"/>
              </a:rPr>
              <a:t>板载</a:t>
            </a:r>
            <a:r>
              <a:rPr lang="en-US" sz="1275" b="1">
                <a:solidFill>
                  <a:srgbClr val="38BDF8"/>
                </a:solidFill>
                <a:latin typeface="Source Han Sans CN"/>
                <a:ea typeface="Source Han Sans CN"/>
              </a:rPr>
              <a:t> USB </a:t>
            </a:r>
            <a:r>
              <a:rPr lang="zh-CN" sz="1275" b="1">
                <a:solidFill>
                  <a:srgbClr val="38BDF8"/>
                </a:solidFill>
                <a:latin typeface="Source Han Sans CN"/>
                <a:ea typeface="Source Han Sans CN"/>
              </a:rPr>
              <a:t>直连</a:t>
            </a:r>
            <a:r>
              <a:rPr lang="en-US" sz="1275" b="1">
                <a:solidFill>
                  <a:srgbClr val="38BDF8"/>
                </a:solidFill>
                <a:latin typeface="Source Han Sans CN"/>
                <a:ea typeface="Source Han Sans CN"/>
              </a:rPr>
              <a:t> PC</a:t>
            </a:r>
            <a:r>
              <a:rPr lang="zh-CN" sz="1275">
                <a:solidFill>
                  <a:srgbClr val="FFFFFF"/>
                </a:solidFill>
                <a:latin typeface="Source Han Sans CN"/>
                <a:ea typeface="Source Han Sans CN"/>
              </a:rPr>
              <a:t>，无需额外下载器即可烧录与通信。</a:t>
            </a:r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571500" y="6400800"/>
            <a:ext cx="2057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STM32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双模游戏手柄</a:t>
            </a: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 ·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成果展示</a:t>
            </a:r>
            <a:endParaRPr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11058525" y="64008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03 / 16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20px 60px', background: '#F8FAFC', flexDirection: 'column' }}&gt;&#10;  &lt;Box style={{ height: 80, justifyContent: 'flex-start', alignItems: 'center' }}&gt;&#10;    &lt;Text style={{ fontSize: 36, fontWeight: 'bold', color: '#0F172A', fontFamily: 'Source Han Sans CN, sans-serif' }}&gt;系统架构&lt;/Text&gt;&#10;  &lt;/Box&gt;&#10;  &lt;Box style={{ height: 560, flexDirection: 'column', gap: 18 }}&gt;&#10;    &lt;Box style={{ height: 300, justifyContent: 'center', alignItems: 'center' }}&gt;&#10;      &lt;svg width='1160' height='290' viewBox='0 0 1160 290'&gt;&#10;        &lt;rect x='500' y='10' width='160' height='48' rx='8' fill='#0F172A' /&gt;&#10;        &lt;text x='580' y='39' textAnchor='middle' fill='#FFFFFF' fontSize='19' fontFamily='JetBrains Mono, monospace' fontWeight='bold'&gt;main.c&lt;/text&gt;&#10;        &lt;line x1='580' y1='58' x2='580' y2='82' stroke='#CBD5E1' strokeWidth='2' /&gt;&#10;        &lt;line x1='120' y1='82' x2='1040' y2='82' stroke='#CBD5E1' strokeWidth='2' /&gt;&#10;        {[&#10;          { x: 120, l: 'usart', s: '蓝牙 + printf' },&#10;          { x: 280, l: 'adc', s: '6 路采集' },&#10;          { x: 440, l: 'joystick', s: '滤波 + HID' },&#10;          { x: 600, l: 'oled', s: '软 I2C' },&#10;          { x: 760, l: 'menu', s: '菜单 + 测试' },&#10;          { x: 920, l: 'flash_save', s: '断电保存' },&#10;          { x: 1040, l: 'boot_splash', s: '开机动画' },&#10;        ].map((n, i) =&gt; (&#10;          &lt;g key={i}&gt;&#10;            &lt;line x1={n.x} y1='82' x2={n.x} y2='112' stroke='#CBD5E1' strokeWidth='2' /&gt;&#10;            &lt;rect x={n.x - 74} y='112' width='148' height='58' rx='6' fill='#FFFFFF' stroke='#E2E8F0' strokeWidth='2' /&gt;&#10;            &lt;text x={n.x} y='141' textAnchor='middle' fill='#0F172A' fontSize='16' fontFamily='JetBrains Mono, monospace' fontWeight='bold'&gt;{n.l}.c&lt;/text&gt;&#10;            &lt;text x={n.x} y='161' textAnchor='middle' fill='#64748B' fontSize='12' fontFamily='Source Han Sans CN, sans-serif'&gt;{n.s}&lt;/text&gt;&#10;          &lt;/g&gt;&#10;        ))}&#10;        &lt;rect x='860' y='190' width='200' height='52' rx='6' fill='#F1F5F9' stroke='#CBD5E1' strokeWidth='2' /&gt;&#10;        &lt;text x='960' y='215' textAnchor='middle' fill='#0F172A' fontSize='15' fontFamily='JetBrains Mono, monospace' fontWeight='bold'&gt;USB-FS Lib&lt;/text&gt;&#10;        &lt;text x='960' y='234' textAnchor='middle' fill='#64748B' fontSize='12' fontFamily='Source Han Sans CN, sans-serif'&gt;ST 官方库&lt;/text&gt;&#10;        &lt;rect x='100' y='190' width='600' height='52' rx='6' fill='#0F172A' /&gt;&#10;        &lt;text x='120' y='215' fill='#38BDF8' fontSize='14' fontFamily='JetBrains Mono, monospace'&gt;while(1)&lt;/text&gt;&#10;        &lt;text x='210' y='215' fill='#FFFFFF' fontSize='13' fontFamily='Source Han Sans CN, sans-serif'&gt;扫描 → 菜单 → 取数 → 发送 → delay_ms(10)&lt;/text&gt;&#10;        &lt;text x='120' y='234' fill='#94A3B8' fontSize='12' fontFamily='Source Han Sans CN, sans-serif'&gt;10ms 周期 = 100Hz，跟手且不过度占用 CPU&lt;/text&gt;&#10;      &lt;/svg&gt;&#10;    &lt;/Box&gt;&#10;    &lt;Box style={{ height: 242, flexDirection: 'row', gap: 20 }}&gt;&#10;      {[&#10;        { t: '采集层', d: 'adc.c 负责 6 路采样与过处理；joystick.c 做按键消抖与边沿检测，向上提供统一输入视图。' },&#10;        { t: '处理层', d: '一阶低通自适应滤波、死区处理、按实测极值归一化，输出 ±1024 标准量程，屏幕与 PC 同源。' },&#10;        { t: '输出层', d: '游戏模式走 USB HID 8 字节报告，蓝牙模式走 CSV 文本帧，由 mode 状态在主循环内分发。' },&#10;      ].map((c, i) =&gt; (&#10;        &lt;Box key={i} style={{ flex: 1, flexDirection: 'column', gap: 10, padding: '18px 20px', background: '#FFFFFF', borderRadius: 10, boxShadow: '0 2px 12px rgba(0,0,0,0.06)', borderTop: '4px solid #2563EB' }}&gt;&#10;          &lt;Text style={{ fontSize: 24, fontWeight: 'bold', color: '#0F172A', fontFamily: 'Source Han Sans CN, sans-serif' }}&gt;{c.t}&lt;/Text&gt;&#10;          &lt;Text style={{ fontSize: 17, color: '#334155', lineHeight: 1.55, fontFamily: 'Source Han Sans CN, sans-serif' }}&gt;{c.d}&lt;/Text&gt;&#10;        &lt;/Box&gt;&#10;      ))}&#10;    &lt;/Box&gt;&#10;  &lt;/Box&gt;&#10;  &lt;Box style={{ height: 40, flexDirection: 'row', justifyContent: 'space-between', alignItems: 'center' }}&gt;&#10;    &lt;Text style={{ fontSize: 14, color: '#64748B', fontFamily: 'JetBrains Mono, monospace' }}&gt;STM32 双模游戏手柄 · 成果展示&lt;/Text&gt;&#10;    &lt;Text style={{ fontSize: 14, color: '#64748B', fontFamily: 'JetBrains Mono, monospace' }}&gt;04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矩形 1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5410200" y="190500"/>
            <a:ext cx="13716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Source Han Sans CN"/>
                <a:ea typeface="Source Han Sans CN"/>
              </a:rPr>
              <a:t>系统架构</a:t>
            </a:r>
            <a:endParaRPr/>
          </a:p>
        </p:txBody>
      </p:sp>
      <p:pic>
        <p:nvPicPr>
          <p:cNvPr id="190" name="图形 18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1000125"/>
            <a:ext cx="11049000" cy="2762250"/>
          </a:xfrm>
          <a:prstGeom prst="rect">
            <a:avLst/>
          </a:prstGeom>
          <a:ln/>
        </p:spPr>
      </p:pic>
      <p:sp>
        <p:nvSpPr>
          <p:cNvPr id="191" name="矩形: 圆角 190"/>
          <p:cNvSpPr/>
          <p:nvPr/>
        </p:nvSpPr>
        <p:spPr>
          <a:xfrm>
            <a:off x="571500" y="4019550"/>
            <a:ext cx="3552825" cy="230505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2" name="任意多边形: 形状 191"/>
          <p:cNvSpPr/>
          <p:nvPr/>
        </p:nvSpPr>
        <p:spPr>
          <a:xfrm>
            <a:off x="571500" y="4019550"/>
            <a:ext cx="3552825" cy="2305050"/>
          </a:xfrm>
          <a:custGeom>
            <a:avLst/>
            <a:gdLst/>
            <a:ahLst/>
            <a:cxnLst/>
            <a:rect l="0" t="0" r="0" b="0"/>
            <a:pathLst>
              <a:path w="373" h="242">
                <a:moveTo>
                  <a:pt x="363" y="0"/>
                </a:moveTo>
                <a:cubicBezTo>
                  <a:pt x="368" y="0"/>
                  <a:pt x="372" y="4"/>
                  <a:pt x="373" y="8"/>
                </a:cubicBezTo>
                <a:cubicBezTo>
                  <a:pt x="372" y="6"/>
                  <a:pt x="370" y="4"/>
                  <a:pt x="367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762000" y="4191000"/>
            <a:ext cx="31718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Source Han Sans CN"/>
                <a:ea typeface="Source Han Sans CN"/>
              </a:rPr>
              <a:t>采集层</a:t>
            </a:r>
            <a:endParaRPr/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762000" y="4562475"/>
            <a:ext cx="317182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adc.c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负责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6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路采样与过处理；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joystick.c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做按键消抖与边沿检测，向上提供统一输入视图。</a:t>
            </a:r>
            <a:endParaRPr/>
          </a:p>
        </p:txBody>
      </p:sp>
      <p:sp>
        <p:nvSpPr>
          <p:cNvPr id="195" name="矩形: 圆角 194"/>
          <p:cNvSpPr/>
          <p:nvPr/>
        </p:nvSpPr>
        <p:spPr>
          <a:xfrm>
            <a:off x="4314825" y="4019550"/>
            <a:ext cx="3562350" cy="230505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6" name="任意多边形: 形状 195"/>
          <p:cNvSpPr/>
          <p:nvPr/>
        </p:nvSpPr>
        <p:spPr>
          <a:xfrm>
            <a:off x="4314825" y="4019550"/>
            <a:ext cx="3562350" cy="2305050"/>
          </a:xfrm>
          <a:custGeom>
            <a:avLst/>
            <a:gdLst/>
            <a:ahLst/>
            <a:cxnLst/>
            <a:rect l="0" t="0" r="0" b="0"/>
            <a:pathLst>
              <a:path w="374" h="242">
                <a:moveTo>
                  <a:pt x="364" y="0"/>
                </a:moveTo>
                <a:cubicBezTo>
                  <a:pt x="369" y="0"/>
                  <a:pt x="373" y="4"/>
                  <a:pt x="374" y="8"/>
                </a:cubicBezTo>
                <a:cubicBezTo>
                  <a:pt x="373" y="6"/>
                  <a:pt x="371" y="4"/>
                  <a:pt x="36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4505325" y="4191000"/>
            <a:ext cx="31813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Source Han Sans CN"/>
                <a:ea typeface="Source Han Sans CN"/>
              </a:rPr>
              <a:t>处理层</a:t>
            </a:r>
            <a:endParaRPr/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4505325" y="4562475"/>
            <a:ext cx="3181350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一阶低通自适应滤波、死区处理、按实测极值归一化，输出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±1024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标准量程，屏幕与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PC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同源。</a:t>
            </a:r>
            <a:endParaRPr/>
          </a:p>
        </p:txBody>
      </p:sp>
      <p:sp>
        <p:nvSpPr>
          <p:cNvPr id="199" name="矩形: 圆角 198"/>
          <p:cNvSpPr/>
          <p:nvPr/>
        </p:nvSpPr>
        <p:spPr>
          <a:xfrm>
            <a:off x="8067675" y="4019550"/>
            <a:ext cx="3552825" cy="230505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0" name="任意多边形: 形状 199"/>
          <p:cNvSpPr/>
          <p:nvPr/>
        </p:nvSpPr>
        <p:spPr>
          <a:xfrm>
            <a:off x="8067675" y="4019550"/>
            <a:ext cx="3552825" cy="2305050"/>
          </a:xfrm>
          <a:custGeom>
            <a:avLst/>
            <a:gdLst/>
            <a:ahLst/>
            <a:cxnLst/>
            <a:rect l="0" t="0" r="0" b="0"/>
            <a:pathLst>
              <a:path w="373" h="242">
                <a:moveTo>
                  <a:pt x="363" y="0"/>
                </a:moveTo>
                <a:cubicBezTo>
                  <a:pt x="368" y="0"/>
                  <a:pt x="372" y="4"/>
                  <a:pt x="373" y="8"/>
                </a:cubicBezTo>
                <a:cubicBezTo>
                  <a:pt x="372" y="6"/>
                  <a:pt x="370" y="4"/>
                  <a:pt x="367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8258175" y="4191000"/>
            <a:ext cx="31718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Source Han Sans CN"/>
                <a:ea typeface="Source Han Sans CN"/>
              </a:rPr>
              <a:t>输出层</a:t>
            </a:r>
            <a:endParaRPr/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8258175" y="4562475"/>
            <a:ext cx="317182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游戏模式走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USB HID 8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字节报告，蓝牙模式走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CSV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文本帧，由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mode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状态在主循环内分发。</a:t>
            </a:r>
            <a:endParaRPr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571500" y="6400800"/>
            <a:ext cx="2057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STM32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双模游戏手柄</a:t>
            </a: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 ·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成果展示</a:t>
            </a:r>
            <a:endParaRPr/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11058525" y="64008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04 / 16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F172A"/>
                </a:solidFill>
                <a:latin typeface="Source Han Sans CN"/>
              </a:defRPr>
            </a:pPr>
            <a:r>
              <a:t>文件结构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ource Han Sans CN"/>
                        </a:defRPr>
                      </a:pPr>
                      <a:r>
                        <a:t>路径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ource Han Sans CN"/>
                        </a:defRPr>
                      </a:pPr>
                      <a:r>
                        <a:t>文件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ource Han Sans CN"/>
                        </a:defRPr>
                      </a:pPr>
                      <a:r>
                        <a:t>职责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USER/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main.c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主循环 · 开机流程 · 模式分发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HARDWARE/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joystick.c/h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按键消抖 + ADC + 滤波 + 死区 + HID 组包 + 校准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adc.c/h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ADC1 6 通道轮询 (PA0~PA5)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oled.c/h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SSD1306 软件 I2C 驱动 + 中英文字库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menu.c/h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双模式菜单状态机 + 测试手柄界面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usart.c/h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USART1 驱动 + printf + 蓝牙帧组包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flash_save.c/h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Flash 最后一页参数读写 + CRC 校验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boot_splash.c/h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开机粒子聚集动画 + 位图数据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USB/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usb_desc.c/h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HID 报告描述符 (GamePad)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usb_prop.c +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USB 设备状态机 + 端点中断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Libraries/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STM32F10x_FW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JetBrains Mono"/>
                        </a:defRPr>
                      </a:pPr>
                      <a:r>
                        <a:t>标准外设库 + USB 驱动库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JetBrains Mono"/>
              </a:defRPr>
            </a:pPr>
            <a:r>
              <a:t>STM32 双模游戏手柄 · 成果展示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64748B"/>
                </a:solidFill>
                <a:latin typeface="JetBrains Mono"/>
              </a:defRPr>
            </a:pPr>
            <a: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F172A"/>
                </a:solidFill>
                <a:latin typeface="Source Han Sans CN"/>
              </a:defRPr>
            </a:pPr>
            <a:r>
              <a:t>引脚映射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4748B"/>
                </a:solidFill>
                <a:latin typeface="Source Han Sans CN"/>
              </a:defRPr>
            </a:pPr>
            <a:r>
              <a:t>GPIO / ADC / USB / 通信全引脚一览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035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800" cy="2468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F172A"/>
                </a:solidFill>
                <a:latin typeface="Source Han Sans CN"/>
              </a:defRPr>
            </a:pPr>
            <a:r>
              <a:t>ADC 采集 (PA0~PA5)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1874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4155"/>
                </a:solidFill>
                <a:latin typeface="Source Han Sans CN"/>
              </a:defRPr>
            </a:pPr>
            <a:r>
              <a:t>左摇杆 X  —  PA0 (ADC1_IN0)</a:t>
            </a:r>
            <a:br/>
            <a:r>
              <a:t>左摇杆 Y  —  PA1 (ADC1_IN1)</a:t>
            </a:r>
            <a:br/>
            <a:r>
              <a:t>右摇杆 X  —  PA2 (ADC1_IN2)</a:t>
            </a:r>
            <a:br/>
            <a:r>
              <a:t>右摇杆 Y  —  PA3 (ADC1_IN3)</a:t>
            </a:r>
            <a:br/>
            <a:r>
              <a:t>左扳机 LT  —  PA4 (ADC1_IN4)</a:t>
            </a:r>
            <a:br/>
            <a:r>
              <a:t>右扳机 RT  —  PA5 (ADC1_IN5)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035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0800" cy="2468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7276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F172A"/>
                </a:solidFill>
                <a:latin typeface="Source Han Sans CN"/>
              </a:defRPr>
            </a:pPr>
            <a:r>
              <a:t>按键 GPIO (上拉输入)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029200" cy="1874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4155"/>
                </a:solidFill>
                <a:latin typeface="Source Han Sans CN"/>
              </a:defRPr>
            </a:pPr>
            <a:r>
              <a:t>十字键 上/下/左/右  —  PB11/PB1/PB10/PB0</a:t>
            </a:r>
            <a:br/>
            <a:r>
              <a:t>X / Y / B / A  —  PB9/PB6/PB7/PB8</a:t>
            </a:r>
            <a:br/>
            <a:r>
              <a:t>Home / Menu / View  —  PB3/PB4/PB5</a:t>
            </a:r>
            <a:br/>
            <a:r>
              <a:t>L3 / R3  —  PA7 / PA6</a:t>
            </a:r>
            <a:br/>
            <a:r>
              <a:t>LB / RB  —  PB15 / PB14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97680"/>
            <a:ext cx="53035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4297680"/>
            <a:ext cx="50800" cy="2468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0740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F172A"/>
                </a:solidFill>
                <a:latin typeface="Source Han Sans CN"/>
              </a:defRPr>
            </a:pPr>
            <a:r>
              <a:t>USB (PA11/PA12)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5029200" cy="1874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4155"/>
                </a:solidFill>
                <a:latin typeface="Source Han Sans CN"/>
              </a:defRPr>
            </a:pPr>
            <a:r>
              <a:t>USB D-  —  PA11</a:t>
            </a:r>
            <a:br/>
            <a:r>
              <a:t>USB D+  —  PA12</a:t>
            </a:r>
            <a:br/>
            <a:r>
              <a:t>D+ 1.5k 上拉  —  硬件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297680"/>
            <a:ext cx="53035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4297680"/>
            <a:ext cx="50800" cy="2468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40740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F172A"/>
                </a:solidFill>
                <a:latin typeface="Source Han Sans CN"/>
              </a:defRPr>
            </a:pPr>
            <a:r>
              <a:t>通信 + 外设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00600"/>
            <a:ext cx="5029200" cy="1874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4155"/>
                </a:solidFill>
                <a:latin typeface="Source Han Sans CN"/>
              </a:defRPr>
            </a:pPr>
            <a:r>
              <a:t>USART1 TX/RX  —  PA08 / PA10</a:t>
            </a:r>
            <a:br/>
            <a:r>
              <a:t>OLED I2C SCL  —  PB12</a:t>
            </a:r>
            <a:br/>
            <a:r>
              <a:t>OLED I2C SDA  —  PB16</a:t>
            </a:r>
            <a:br/>
            <a:r>
              <a:t>WS2812 熄灭  —  PA8 (拉低)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JetBrains Mono"/>
              </a:defRPr>
            </a:pPr>
            <a:r>
              <a:t>STM32 双模游戏手柄 · 成果展示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64748B"/>
                </a:solidFill>
                <a:latin typeface="JetBrains Mono"/>
              </a:defRPr>
            </a:pPr>
            <a: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20px 60px', background: '#F8FAFC', flexDirection: 'column' }}&gt;&#10;  &lt;Box style={{ height: 80, justifyContent: 'flex-start', alignItems: 'center' }}&gt;&#10;    &lt;Text style={{ fontSize: 36, fontWeight: 'bold', color: '#0F172A', fontFamily: 'Source Han Sans CN, sans-serif' }}&gt;输入系统&lt;/Text&gt;&#10;  &lt;/Box&gt;&#10;  &lt;Box style={{ height: 560, flexDirection: 'row', gap: 40, alignItems: 'stretch' }}&gt;&#10;    &lt;Box style={{ width: 700, justifyContent: 'center', alignItems: 'center' }}&gt;&#10;      &lt;svg width='700' height='500' viewBox='0 0 700 500'&gt;&#10;        &lt;text x='20' y='24' fill='#0F172A' fontSize='17' fontFamily='Source Han Sans CN, sans-serif' fontWeight='bold'&gt;摇杆采集链&lt;/text&gt;&#10;        {[&#10;          { y: 40, t: 'PA0–PA5 六路 ADC', s: '左/右摇杆 4 轴 + LT/RT 扳机', c: '#334155' },&#10;          { y: 108, t: 'dummy 冲刷 + 8 次过采样', s: '每次转换前先冲刷采样电容，再取 8 次均值', c: '#2563EB' },&#10;          { y: 176, t: '交错采样顺序 {0,2,4,1,3,5}', s: '相邻通道之间插入其它通道，时序上错开', c: '#2563EB' },&#10;          { y: 244, t: '一阶低通自适应滤波', s: '按变化量自动选择滤波强度，跟手且不钝', c: '#334155' },&#10;          { y: 312, t: '死区处理（默认 300）', s: '抑制中心漂移，静止时输出稳定在中位', c: '#334155' },&#10;          { y: 380, t: '按实测极值归一化', s: '每轴独立量程，输出标准 ±1024 / 0~1024', c: '#16A34A' },&#10;        ].map((n, i) =&gt; (&#10;          &lt;g key={i}&gt;&#10;            &lt;rect x='20' y={n.y} width='660' height='52' rx='6' fill='#FFFFFF' stroke='#E2E8F0' strokeWidth='2' /&gt;&#10;            &lt;rect x='20' y={n.y} width='6' height='52' fill={n.c} /&gt;&#10;            &lt;text x='44' y={n.y + 23} fill='#0F172A' fontSize='15' fontFamily='Source Han Sans CN, sans-serif' fontWeight='bold'&gt;{n.t}&lt;/text&gt;&#10;            &lt;text x='44' y={n.y + 43} fill='#64748B' fontSize='13' fontFamily='Source Han Sans CN, sans-serif'&gt;{n.s}&lt;/text&gt;&#10;            {i &lt; 5 &amp;&amp; &lt;line x1='350' y1={n.y + 52} x2='350' y2={n.y + 66} stroke='#CBD5E1' strokeWidth='2' /&gt;}&#10;          &lt;/g&gt;&#10;        ))}&#10;        &lt;rect x='20' y='448' width='660' height='42' rx='6' fill='#0F172A' /&gt;&#10;        &lt;text x='40' y='475' fill='#38BDF8' fontSize='14' fontFamily='Source Han Sans CN, sans-serif'&gt;输出：Joystick_GetNorm（±1024，供 HID 与屏幕共用）· Joystick_GetRaw（0~1024，供调试）&lt;/text&gt;&#10;      &lt;/svg&gt;&#10;    &lt;/Box&gt;&#10;    &lt;Box style={{ flex: 1, flexDirection: 'column', gap: 16, justifyContent: 'center' }}&gt;&#10;      &lt;Text style={{ fontSize: 20, color: '#334155', lineHeight: 1.6, fontFamily: 'Source Han Sans CN, sans-serif' }}&gt;&#10;        摇杆数据从采样到上报经过六道处理，最终统一为标准量程，屏幕显示与 PC 读取的是同一份数据。&#10;      &lt;/Text&gt;&#10;      &lt;Box style={{ padding: 16, background: '#FFFFFF', borderRadius: 8, borderLeft: '4px solid #2563EB', boxShadow: '0 2px 12px rgba(0,0,0,0.06)' }}&gt;&#10;        &lt;Text style={{ fontSize: 19, fontWeight: 'bold', color: '#0F172A', marginBottom: 6, fontFamily: 'Source Han Sans CN, sans-serif' }}&gt;按键：消抖 + 边沿&lt;/Text&gt;&#10;        &lt;Text style={{ fontSize: 17, color: '#334155', lineHeight: 1.5, fontFamily: 'Source Han Sans CN, sans-serif' }}&gt;&#10;          15 个按键统一 5 帧消抖（50ms @100Hz），并提供边沿检测接口，长按与单次触发分别处理。&#10;        &lt;/Text&gt;&#10;      &lt;/Box&gt;&#10;      &lt;Box style={{ padding: 16, background: '#FFFFFF', borderRadius: 8, borderLeft: '4px solid #2563EB', boxShadow: '0 2px 12px rgba(0,0,0,0.06)' }}&gt;&#10;        &lt;Text style={{ fontSize: 19, fontWeight: 'bold', color: '#0F172A', marginBottom: 6, fontFamily: 'Source Han Sans CN, sans-serif' }}&gt;轴映射按实际朝向&lt;/Text&gt;&#10;        &lt;Text style={{ fontSize: 17, color: '#334155', lineHeight: 1.5, fontFamily: 'Source Han Sans CN, sans-serif' }}&gt;&#10;          摇杆模块为 90° 错位安装，引脚与电位器方向不一致，逻辑轴按实际朝向做交叉映射，方向正确。&#10;        &lt;/Text&gt;&#10;      &lt;/Box&gt;&#10;      &lt;Box style={{ padding: 16, background: '#0F172A', borderRadius: 8 }}&gt;&#10;        &lt;Text style={{ fontSize: 17, color: '#FFFFFF', lineHeight: 1.5, fontFamily: 'Source Han Sans CN, sans-serif' }}&gt;&#10;          &lt;span style={{ color: '#38BDF8', fontWeight: 'bold' }}&gt;效果：&lt;/span&gt;满推可达边界，静止无漂移，屏幕与 PC 表现一致。&#10;        &lt;/Text&gt;&#10;      &lt;/Box&gt;&#10;    &lt;/Box&gt;&#10;  &lt;/Box&gt;&#10;  &lt;Box style={{ height: 40, flexDirection: 'row', justifyContent: 'space-between', alignItems: 'center' }}&gt;&#10;    &lt;Text style={{ fontSize: 14, color: '#64748B', fontFamily: 'JetBrains Mono, monospace' }}&gt;STM32 双模游戏手柄 · 成果展示&lt;/Text&gt;&#10;    &lt;Text style={{ fontSize: 14, color: '#64748B', fontFamily: 'JetBrains Mono, monospace' }}&gt;05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矩形 2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5410200" y="190500"/>
            <a:ext cx="13716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Source Han Sans CN"/>
                <a:ea typeface="Source Han Sans CN"/>
              </a:rPr>
              <a:t>输入系统</a:t>
            </a:r>
            <a:endParaRPr/>
          </a:p>
        </p:txBody>
      </p:sp>
      <p:pic>
        <p:nvPicPr>
          <p:cNvPr id="208" name="图形 20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1238250"/>
            <a:ext cx="6667500" cy="4762500"/>
          </a:xfrm>
          <a:prstGeom prst="rect">
            <a:avLst/>
          </a:prstGeom>
          <a:ln/>
        </p:spPr>
      </p:pic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7620000" y="1219200"/>
            <a:ext cx="4000500" cy="1104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334155"/>
                </a:solidFill>
                <a:latin typeface="Source Han Sans CN"/>
                <a:ea typeface="Source Han Sans CN"/>
              </a:rPr>
              <a:t>摇杆数据从采样到上报经过六道处理，最终统一为标准量程，屏幕显示与</a:t>
            </a:r>
            <a:r>
              <a:rPr lang="en-US" sz="1500">
                <a:solidFill>
                  <a:srgbClr val="334155"/>
                </a:solidFill>
                <a:latin typeface="Source Han Sans CN"/>
                <a:ea typeface="Source Han Sans CN"/>
              </a:rPr>
              <a:t> PC </a:t>
            </a:r>
            <a:r>
              <a:rPr lang="zh-CN" sz="1500">
                <a:solidFill>
                  <a:srgbClr val="334155"/>
                </a:solidFill>
                <a:latin typeface="Source Han Sans CN"/>
                <a:ea typeface="Source Han Sans CN"/>
              </a:rPr>
              <a:t>读取的是同一份数据。</a:t>
            </a:r>
            <a:endParaRPr/>
          </a:p>
        </p:txBody>
      </p:sp>
      <p:sp>
        <p:nvSpPr>
          <p:cNvPr id="210" name="矩形: 圆角 209"/>
          <p:cNvSpPr/>
          <p:nvPr/>
        </p:nvSpPr>
        <p:spPr>
          <a:xfrm>
            <a:off x="7658100" y="2476500"/>
            <a:ext cx="4000500" cy="1171575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1" name="任意多边形: 形状 210"/>
          <p:cNvSpPr/>
          <p:nvPr/>
        </p:nvSpPr>
        <p:spPr>
          <a:xfrm>
            <a:off x="7658100" y="2476500"/>
            <a:ext cx="4000500" cy="1171575"/>
          </a:xfrm>
          <a:custGeom>
            <a:avLst/>
            <a:gdLst/>
            <a:ahLst/>
            <a:cxnLst/>
            <a:rect l="0" t="0" r="0" b="0"/>
            <a:pathLst>
              <a:path w="420" h="12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9"/>
                </a:lnTo>
                <a:cubicBezTo>
                  <a:pt x="4" y="121"/>
                  <a:pt x="5" y="123"/>
                  <a:pt x="7" y="123"/>
                </a:cubicBezTo>
                <a:cubicBezTo>
                  <a:pt x="3" y="123"/>
                  <a:pt x="0" y="119"/>
                  <a:pt x="0" y="11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7810500" y="2628900"/>
            <a:ext cx="36576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Source Han Sans CN"/>
                <a:ea typeface="Source Han Sans CN"/>
              </a:rPr>
              <a:t>按键：消抖</a:t>
            </a:r>
            <a:r>
              <a:rPr lang="en-US" sz="1425" b="1">
                <a:solidFill>
                  <a:srgbClr val="0F172A"/>
                </a:solidFill>
                <a:latin typeface="Source Han Sans CN"/>
                <a:ea typeface="Source Han Sans CN"/>
              </a:rPr>
              <a:t> + </a:t>
            </a:r>
            <a:r>
              <a:rPr lang="zh-CN" sz="1425" b="1">
                <a:solidFill>
                  <a:srgbClr val="0F172A"/>
                </a:solidFill>
                <a:latin typeface="Source Han Sans CN"/>
                <a:ea typeface="Source Han Sans CN"/>
              </a:rPr>
              <a:t>边沿</a:t>
            </a:r>
            <a:endParaRPr/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7810500" y="2905125"/>
            <a:ext cx="36576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15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个按键统一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5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帧消抖（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50ms @100Hz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），并提供边沿检测接口，长按与单次触发分别处理。</a:t>
            </a:r>
            <a:endParaRPr/>
          </a:p>
        </p:txBody>
      </p:sp>
      <p:sp>
        <p:nvSpPr>
          <p:cNvPr id="214" name="矩形: 圆角 213"/>
          <p:cNvSpPr/>
          <p:nvPr/>
        </p:nvSpPr>
        <p:spPr>
          <a:xfrm>
            <a:off x="7658100" y="3800475"/>
            <a:ext cx="4000500" cy="1171575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5" name="任意多边形: 形状 214"/>
          <p:cNvSpPr/>
          <p:nvPr/>
        </p:nvSpPr>
        <p:spPr>
          <a:xfrm>
            <a:off x="7658100" y="3800475"/>
            <a:ext cx="4000500" cy="1171575"/>
          </a:xfrm>
          <a:custGeom>
            <a:avLst/>
            <a:gdLst/>
            <a:ahLst/>
            <a:cxnLst/>
            <a:rect l="0" t="0" r="0" b="0"/>
            <a:pathLst>
              <a:path w="420" h="12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9"/>
                </a:lnTo>
                <a:cubicBezTo>
                  <a:pt x="4" y="121"/>
                  <a:pt x="5" y="123"/>
                  <a:pt x="7" y="123"/>
                </a:cubicBezTo>
                <a:cubicBezTo>
                  <a:pt x="3" y="123"/>
                  <a:pt x="0" y="119"/>
                  <a:pt x="0" y="11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7810500" y="3952875"/>
            <a:ext cx="36576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Source Han Sans CN"/>
                <a:ea typeface="Source Han Sans CN"/>
              </a:rPr>
              <a:t>轴映射按实际朝向</a:t>
            </a:r>
            <a:endParaRPr/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7810500" y="4229100"/>
            <a:ext cx="36576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摇杆模块为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90°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错位安装，引脚与电位器方向不一致，逻辑轴按实际朝向做交叉映射，方向正确。</a:t>
            </a:r>
            <a:endParaRPr/>
          </a:p>
        </p:txBody>
      </p:sp>
      <p:sp>
        <p:nvSpPr>
          <p:cNvPr id="218" name="矩形: 圆角 217"/>
          <p:cNvSpPr/>
          <p:nvPr/>
        </p:nvSpPr>
        <p:spPr>
          <a:xfrm>
            <a:off x="7620000" y="5124450"/>
            <a:ext cx="4000500" cy="895350"/>
          </a:xfrm>
          <a:prstGeom prst="roundRect">
            <a:avLst>
              <a:gd name="adj" fmla="val 8511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7772400" y="5276850"/>
            <a:ext cx="36957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38BDF8"/>
                </a:solidFill>
                <a:latin typeface="Source Han Sans CN"/>
                <a:ea typeface="Source Han Sans CN"/>
              </a:rPr>
              <a:t>效果：</a:t>
            </a:r>
            <a:r>
              <a:rPr lang="zh-CN" sz="1275">
                <a:solidFill>
                  <a:srgbClr val="FFFFFF"/>
                </a:solidFill>
                <a:latin typeface="Source Han Sans CN"/>
                <a:ea typeface="Source Han Sans CN"/>
              </a:rPr>
              <a:t>满推可达边界，静止无漂移，屏幕与</a:t>
            </a:r>
            <a:r>
              <a:rPr lang="en-US" sz="1275">
                <a:solidFill>
                  <a:srgbClr val="FFFFFF"/>
                </a:solidFill>
                <a:latin typeface="Source Han Sans CN"/>
                <a:ea typeface="Source Han Sans CN"/>
              </a:rPr>
              <a:t> PC </a:t>
            </a:r>
            <a:r>
              <a:rPr lang="zh-CN" sz="1275">
                <a:solidFill>
                  <a:srgbClr val="FFFFFF"/>
                </a:solidFill>
                <a:latin typeface="Source Han Sans CN"/>
                <a:ea typeface="Source Han Sans CN"/>
              </a:rPr>
              <a:t>表现一致。</a:t>
            </a:r>
            <a:endParaRPr/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571500" y="6400800"/>
            <a:ext cx="2057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STM32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双模游戏手柄</a:t>
            </a: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 ·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成果展示</a:t>
            </a:r>
            <a:endParaRPr/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11058525" y="64008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09 / 16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20px 60px', background: '#F8FAFC', flexDirection: 'column' }}&gt;&#10;  &lt;Box style={{ height: 80, justifyContent: 'flex-start', alignItems: 'center' }}&gt;&#10;    &lt;Text style={{ fontSize: 36, fontWeight: 'bold', color: '#0F172A', fontFamily: 'Source Han Sans CN, sans-serif' }}&gt;USB HID：接 PC 免驱&lt;/Text&gt;&#10;  &lt;/Box&gt;&#10;  &lt;Box style={{ height: 560, flexDirection: 'row', gap: 40, alignItems: 'stretch' }}&gt;&#10;    &lt;Box style={{ width: 300, flexDirection: 'column', gap: 16, justifyContent: 'center' }}&gt;&#10;      &lt;Text style={{ fontSize: 21, color: '#334155', lineHeight: 1.6, fontFamily: 'Source Han Sans CN, sans-serif' }}&gt;&#10;        每 10ms 组一帧 8 字节报告发给主机，操作系统识别为标准游戏控制器，即插即用无需驱动。&#10;      &lt;/Text&gt;&#10;      &lt;Box style={{ padding: 16, background: '#FFFFFF', borderRadius: 8, borderLeft: '4px solid #2563EB', boxShadow: '0 2px 12px rgba(0,0,0,0.06)' }}&gt;&#10;        &lt;Text style={{ fontSize: 18, fontWeight: 'bold', color: '#0F172A', marginBottom: 6, fontFamily: 'Source Han Sans CN, sans-serif' }}&gt;XInput 顺序映射&lt;/Text&gt;&#10;        &lt;Text style={{ fontSize: 16, color: '#334155', lineHeight: 1.5, fontFamily: 'Source Han Sans CN, sans-serif' }}&gt;&#10;          按钮位图按 A/B/X/Y 落在 bit0~bit3，Steam 与主流 PC 游戏可直接识别。&#10;        &lt;/Text&gt;&#10;      &lt;/Box&gt;&#10;      &lt;Box style={{ padding: 16, background: '#FFFFFF', borderRadius: 8, borderLeft: '4px solid #2563EB', boxShadow: '0 2px 12px rgba(0,0,0,0.06)' }}&gt;&#10;        &lt;Text style={{ fontSize: 18, fontWeight: 'bold', color: '#0F172A', marginBottom: 6, fontFamily: 'Source Han Sans CN, sans-serif' }}&gt;发送时机保护&lt;/Text&gt;&#10;        &lt;Text style={{ fontSize: 16, color: '#334155', lineHeight: 1.5, fontFamily: 'Source Han Sans CN, sans-serif' }}&gt;&#10;          仅在枚举完成且上一帧发送完毕后才发新帧，保证主机端稳定接收。&#10;        &lt;/Text&gt;&#10;      &lt;/Box&gt;&#10;      &lt;Box style={{ padding: 16, background: '#0F172A', borderRadius: 8 }}&gt;&#10;        &lt;Text style={{ fontSize: 17, color: '#FFFFFF', lineHeight: 1.5, fontFamily: 'Source Han Sans CN, sans-serif' }}&gt;&#10;          &lt;span style={{ color: '#38BDF8', fontWeight: 'bold' }}&gt;初始化置于最前&lt;/span&gt;，上电后 USB 第一时间就绪，插入即被识别。&#10;        &lt;/Text&gt;&#10;      &lt;/Box&gt;&#10;    &lt;/Box&gt;&#10;    &lt;Box style={{ flex: 1, justifyContent: 'center', alignItems: 'center' }}&gt;&#10;      &lt;svg width='800' height='470' viewBox='0 0 800 470'&gt;&#10;        &lt;text x='20' y='30' fill='#0F172A' fontSize='18' fontFamily='Source Han Sans CN, sans-serif' fontWeight='bold'&gt;8 字节 HID 报告&lt;/text&gt;&#10;        {[&#10;          { i: 0, l: '按钮 byte0', s: 'A B X Y LB RB View Menu' },&#10;          { i: 1, l: '按钮 byte1', s: 'L3 R3 Home' },&#10;          { i: 2, l: 'Hat Switch', s: '0~8 十字键' },&#10;          { i: 3, l: '摇杆1 X', s: '左 X · 128 中位' },&#10;          { i: 4, l: '摇杆1 Y', s: '左 Y' },&#10;          { i: 5, l: '扳机 Z', s: '(RT − LT) 归一化' },&#10;          { i: 6, l: '摇杆2 X', s: '右 X' },&#10;          { i: 7, l: '摇杆2 Y', s: '右 Y · 反向输出' },&#10;        ].map((b, i) =&gt; (&#10;          &lt;g key={i}&gt;&#10;            &lt;rect x={16 + i * 96} y='52' width='84' height='160' rx='6' fill={i % 2 === 0 ? '#FFFFFF' : '#F1F5F9'} stroke={b.i === 5 ? '#2563EB' : '#E2E8F0'} strokeWidth={b.i === 5 ? '3' : '2'} /&gt;&#10;            &lt;text x={58 + i * 96} y='86' textAnchor='middle' fill='#2563EB' fontSize='17' fontFamily='JetBrains Mono, monospace' fontWeight='bold'&gt;[{b.i}]&lt;/text&gt;&#10;            &lt;text x={58 + i * 96} y='136' textAnchor='middle' fill='#0F172A' fontSize='13' fontFamily='Source Han Sans CN, sans-serif' fontWeight='bold'&gt;{b.l}&lt;/text&gt;&#10;            &lt;text x={58 + i * 96} y='170' textAnchor='middle' fill='#64748B' fontSize='11' fontFamily='Source Han Sans CN, sans-serif'&gt;{b.s}&lt;/text&gt;&#10;          &lt;/g&gt;&#10;        ))}&#10;        &lt;rect x='16' y='240' width='768' height='200' rx='8' fill='#FFFFFF' stroke='#E2E8F0' strokeWidth='2' /&gt;&#10;        &lt;text x='44' y='278' fill='#0F172A' fontSize='17' fontFamily='Source Han Sans CN, sans-serif' fontWeight='bold'&gt;报告细节&lt;/text&gt;&#10;        &lt;text x='44' y='312' fill='#334155' fontSize='15' fontFamily='Source Han Sans CN, sans-serif'&gt;摇杆字节以 128 为中位，配合死区处理，静止时稳定输出中位不漂移。&lt;/text&gt;&#10;        &lt;text x='44' y='344' fill='#334155' fontSize='15' fontFamily='Source Han Sans CN, sans-serif'&gt;扳机合并为单字节差动值（RT − LT），用一个轴表达双扳机组合输入。&lt;/text&gt;&#10;        &lt;text x='44' y='376' fill='#334155' fontSize='15' fontFamily='Source Han Sans CN, sans-serif'&gt;右摇杆 Y 轴按物理朝向做反向输出，保证推向屏幕上方即角色向前。&lt;/text&gt;&#10;        &lt;text x='44' y='414' fill='#2563EB' fontSize='15' fontFamily='Source Han Sans CN, sans-serif' fontWeight='bold'&gt;帧率 100Hz，与 OLED 测试界面共用同一份处理后的轴数据。&lt;/text&gt;&#10;      &lt;/svg&gt;&#10;    &lt;/Box&gt;&#10;  &lt;/Box&gt;&#10;  &lt;Box style={{ height: 40, flexDirection: 'row', justifyContent: 'space-between', alignItems: 'center' }}&gt;&#10;    &lt;Text style={{ fontSize: 14, color: '#64748B', fontFamily: 'JetBrains Mono, monospace' }}&gt;STM32 双模游戏手柄 · 成果展示&lt;/Text&gt;&#10;    &lt;Text style={{ fontSize: 14, color: '#64748B', fontFamily: 'JetBrains Mono, monospace' }}&gt;06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矩形 2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4333875" y="190500"/>
            <a:ext cx="352425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F172A"/>
                </a:solidFill>
                <a:latin typeface="Source Han Sans CN"/>
                <a:ea typeface="Source Han Sans CN"/>
              </a:rPr>
              <a:t>USB HID</a:t>
            </a:r>
            <a:r>
              <a:rPr lang="zh-CN" sz="2700" b="1">
                <a:solidFill>
                  <a:srgbClr val="0F172A"/>
                </a:solidFill>
                <a:latin typeface="Source Han Sans CN"/>
                <a:ea typeface="Source Han Sans CN"/>
              </a:rPr>
              <a:t>：接</a:t>
            </a:r>
            <a:r>
              <a:rPr lang="en-US" sz="2700" b="1">
                <a:solidFill>
                  <a:srgbClr val="0F172A"/>
                </a:solidFill>
                <a:latin typeface="Source Han Sans CN"/>
                <a:ea typeface="Source Han Sans CN"/>
              </a:rPr>
              <a:t> PC </a:t>
            </a:r>
            <a:r>
              <a:rPr lang="zh-CN" sz="2700" b="1">
                <a:solidFill>
                  <a:srgbClr val="0F172A"/>
                </a:solidFill>
                <a:latin typeface="Source Han Sans CN"/>
                <a:ea typeface="Source Han Sans CN"/>
              </a:rPr>
              <a:t>免驱</a:t>
            </a:r>
            <a:endParaRPr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71500" y="1247775"/>
            <a:ext cx="2857500" cy="1152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334155"/>
                </a:solidFill>
                <a:latin typeface="Source Han Sans CN"/>
                <a:ea typeface="Source Han Sans CN"/>
              </a:rPr>
              <a:t>每</a:t>
            </a:r>
            <a:r>
              <a:rPr lang="en-US" sz="1575">
                <a:solidFill>
                  <a:srgbClr val="334155"/>
                </a:solidFill>
                <a:latin typeface="Source Han Sans CN"/>
                <a:ea typeface="Source Han Sans CN"/>
              </a:rPr>
              <a:t> 10ms </a:t>
            </a:r>
            <a:r>
              <a:rPr lang="zh-CN" sz="1575">
                <a:solidFill>
                  <a:srgbClr val="334155"/>
                </a:solidFill>
                <a:latin typeface="Source Han Sans CN"/>
                <a:ea typeface="Source Han Sans CN"/>
              </a:rPr>
              <a:t>组一帧</a:t>
            </a:r>
            <a:r>
              <a:rPr lang="en-US" sz="1575">
                <a:solidFill>
                  <a:srgbClr val="334155"/>
                </a:solidFill>
                <a:latin typeface="Source Han Sans CN"/>
                <a:ea typeface="Source Han Sans CN"/>
              </a:rPr>
              <a:t> 8 </a:t>
            </a:r>
            <a:r>
              <a:rPr lang="zh-CN" sz="1575">
                <a:solidFill>
                  <a:srgbClr val="334155"/>
                </a:solidFill>
                <a:latin typeface="Source Han Sans CN"/>
                <a:ea typeface="Source Han Sans CN"/>
              </a:rPr>
              <a:t>字节报告发给主机，操作系统识别为标准游戏控制器，即插即用无需驱动。</a:t>
            </a:r>
            <a:endParaRPr/>
          </a:p>
        </p:txBody>
      </p:sp>
      <p:sp>
        <p:nvSpPr>
          <p:cNvPr id="226" name="矩形: 圆角 225"/>
          <p:cNvSpPr/>
          <p:nvPr/>
        </p:nvSpPr>
        <p:spPr>
          <a:xfrm>
            <a:off x="609600" y="2552700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7" name="任意多边形: 形状 226"/>
          <p:cNvSpPr/>
          <p:nvPr/>
        </p:nvSpPr>
        <p:spPr>
          <a:xfrm>
            <a:off x="609600" y="2552700"/>
            <a:ext cx="2857500" cy="1123950"/>
          </a:xfrm>
          <a:custGeom>
            <a:avLst/>
            <a:gdLst/>
            <a:ahLst/>
            <a:cxnLst/>
            <a:rect l="0" t="0" r="0" b="0"/>
            <a:pathLst>
              <a:path w="300" h="11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4"/>
                </a:lnTo>
                <a:cubicBezTo>
                  <a:pt x="4" y="116"/>
                  <a:pt x="5" y="118"/>
                  <a:pt x="7" y="118"/>
                </a:cubicBezTo>
                <a:cubicBezTo>
                  <a:pt x="3" y="118"/>
                  <a:pt x="0" y="114"/>
                  <a:pt x="0" y="11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762000" y="2705100"/>
            <a:ext cx="2514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Source Han Sans CN"/>
                <a:ea typeface="Source Han Sans CN"/>
              </a:rPr>
              <a:t>XInput </a:t>
            </a:r>
            <a:r>
              <a:rPr lang="zh-CN" sz="1350" b="1">
                <a:solidFill>
                  <a:srgbClr val="0F172A"/>
                </a:solidFill>
                <a:latin typeface="Source Han Sans CN"/>
                <a:ea typeface="Source Han Sans CN"/>
              </a:rPr>
              <a:t>顺序映射</a:t>
            </a:r>
            <a:endParaRPr/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762000" y="2971800"/>
            <a:ext cx="25146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按钮位图按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A/B/X/Y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落在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bit0~bit3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，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Steam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与主流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PC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游戏可直接识别。</a:t>
            </a:r>
            <a:endParaRPr/>
          </a:p>
        </p:txBody>
      </p:sp>
      <p:sp>
        <p:nvSpPr>
          <p:cNvPr id="230" name="矩形: 圆角 229"/>
          <p:cNvSpPr/>
          <p:nvPr/>
        </p:nvSpPr>
        <p:spPr>
          <a:xfrm>
            <a:off x="609600" y="3829050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1" name="任意多边形: 形状 230"/>
          <p:cNvSpPr/>
          <p:nvPr/>
        </p:nvSpPr>
        <p:spPr>
          <a:xfrm>
            <a:off x="609600" y="3829050"/>
            <a:ext cx="2857500" cy="1123950"/>
          </a:xfrm>
          <a:custGeom>
            <a:avLst/>
            <a:gdLst/>
            <a:ahLst/>
            <a:cxnLst/>
            <a:rect l="0" t="0" r="0" b="0"/>
            <a:pathLst>
              <a:path w="300" h="11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4"/>
                </a:lnTo>
                <a:cubicBezTo>
                  <a:pt x="4" y="116"/>
                  <a:pt x="5" y="118"/>
                  <a:pt x="7" y="118"/>
                </a:cubicBezTo>
                <a:cubicBezTo>
                  <a:pt x="3" y="118"/>
                  <a:pt x="0" y="114"/>
                  <a:pt x="0" y="11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762000" y="3981450"/>
            <a:ext cx="2514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Source Han Sans CN"/>
                <a:ea typeface="Source Han Sans CN"/>
              </a:rPr>
              <a:t>发送时机保护</a:t>
            </a:r>
            <a:endParaRPr/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762000" y="4248150"/>
            <a:ext cx="25146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仅在枚举完成且上一帧发送完毕后才发新帧，保证主机端稳定接收。</a:t>
            </a:r>
            <a:endParaRPr/>
          </a:p>
        </p:txBody>
      </p:sp>
      <p:sp>
        <p:nvSpPr>
          <p:cNvPr id="234" name="矩形: 圆角 233"/>
          <p:cNvSpPr/>
          <p:nvPr/>
        </p:nvSpPr>
        <p:spPr>
          <a:xfrm>
            <a:off x="571500" y="5105400"/>
            <a:ext cx="2857500" cy="895350"/>
          </a:xfrm>
          <a:prstGeom prst="roundRect">
            <a:avLst>
              <a:gd name="adj" fmla="val 8511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723900" y="5257800"/>
            <a:ext cx="25527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38BDF8"/>
                </a:solidFill>
                <a:latin typeface="Source Han Sans CN"/>
                <a:ea typeface="Source Han Sans CN"/>
              </a:rPr>
              <a:t>初始化置于最前</a:t>
            </a:r>
            <a:r>
              <a:rPr lang="zh-CN" sz="1275">
                <a:solidFill>
                  <a:srgbClr val="FFFFFF"/>
                </a:solidFill>
                <a:latin typeface="Source Han Sans CN"/>
                <a:ea typeface="Source Han Sans CN"/>
              </a:rPr>
              <a:t>，上电后</a:t>
            </a:r>
            <a:r>
              <a:rPr lang="en-US" sz="1275">
                <a:solidFill>
                  <a:srgbClr val="FFFFFF"/>
                </a:solidFill>
                <a:latin typeface="Source Han Sans CN"/>
                <a:ea typeface="Source Han Sans CN"/>
              </a:rPr>
              <a:t> USB </a:t>
            </a:r>
            <a:r>
              <a:rPr lang="zh-CN" sz="1275">
                <a:solidFill>
                  <a:srgbClr val="FFFFFF"/>
                </a:solidFill>
                <a:latin typeface="Source Han Sans CN"/>
                <a:ea typeface="Source Han Sans CN"/>
              </a:rPr>
              <a:t>第一时间就绪，插入即被识别。</a:t>
            </a:r>
            <a:endParaRPr/>
          </a:p>
        </p:txBody>
      </p:sp>
      <p:pic>
        <p:nvPicPr>
          <p:cNvPr id="236" name="图形 23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5250" y="1381125"/>
            <a:ext cx="7620000" cy="4476750"/>
          </a:xfrm>
          <a:prstGeom prst="rect">
            <a:avLst/>
          </a:prstGeom>
          <a:ln/>
        </p:spPr>
      </p:pic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571500" y="6400800"/>
            <a:ext cx="2057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STM32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双模游戏手柄</a:t>
            </a: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 ·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成果展示</a:t>
            </a:r>
            <a:endParaRPr/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11058525" y="64008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10 / 16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20px 60px', background: '#F8FAFC', flexDirection: 'column' }}&gt;&#10;  &lt;Box style={{ height: 80, justifyContent: 'flex-start', alignItems: 'center' }}&gt;&#10;    &lt;Text style={{ fontSize: 36, fontWeight: 'bold', color: '#0F172A', fontFamily: 'Source Han Sans CN, sans-serif' }}&gt;蓝牙：给 MCU 和手机用&lt;/Text&gt;&#10;  &lt;/Box&gt;&#10;  &lt;Box style={{ height: 560, flexDirection: 'column', gap: 18 }}&gt;&#10;    &lt;Box style={{ height: 300, justifyContent: 'center', alignItems: 'center' }}&gt;&#10;      &lt;svg width='1160' height='290' viewBox='0 0 1160 290'&gt;&#10;        &lt;text x='20' y='26' fill='#0F172A' fontSize='18' fontFamily='Source Han Sans CN, sans-serif' fontWeight='bold'&gt;HC-05 · 115200 · CSV 文本帧&lt;/text&gt;&#10;        {[&#10;          { y: 44, tag: 'J', c: '#38BDF8', code: 'J,128,127,130,126,255,0', d: '摇杆帧 · 每 2 帧发一次 ≈ 50Hz' },&#10;          { y: 122, tag: 'KEY', c: '#86EFAC', code: 'KEY:A', d: '按键帧 · 按下瞬间发一次（边沿触发）' },&#10;          { y: 200, tag: 'RAW', c: '#FCD34D', code: 'RAW,2031,2044,2028,2035,4095,0', d: '原始值帧 · 每 0.5 秒一次，供画曲线分析' },&#10;        ].map((f, i) =&gt; (&#10;          &lt;g key={i}&gt;&#10;            &lt;rect x='20' y={f.y} width='1120' height='62' rx='8' fill='#0F172A' /&gt;&#10;            &lt;rect x='36' y={f.y + 12} width={f.tag === 'KEY' ? '56' : f.tag === 'RAW' ? '58' : '34'} height='38' rx='5' fill={f.c} opacity='0.18' /&gt;&#10;            &lt;text x={f.tag === 'KEY' ? 64 : f.tag === 'RAW' ? 65 : 53} y={f.y + 38} textAnchor='middle' fill={f.c} fontSize='15' fontFamily='JetBrains Mono, monospace' fontWeight='bold'&gt;{f.tag}&lt;/text&gt;&#10;            &lt;text x='112' y={f.y + 38} fill='#FFFFFF' fontSize='17' fontFamily='JetBrains Mono, monospace'&gt;{f.code}&lt;/text&gt;&#10;            &lt;text x='700' y={f.y + 38} fill='#94A3B8' fontSize='14' fontFamily='Source Han Sans CN, sans-serif'&gt;{f.d}&lt;/text&gt;&#10;          &lt;/g&gt;&#10;        ))}&#10;      &lt;/svg&gt;&#10;    &lt;/Box&gt;&#10;    &lt;Box style={{ height: 242, flexDirection: 'row', gap: 20 }}&gt;&#10;      {[&#10;        { t: '文本帧，零解析成本', d: '对端是 STM32 小车时，按逗号切分即可取值；串口助手里也能直接读懂，不需要专门的解析工具。' },&#10;        { t: '按键只发一次', d: '摇杆按 50Hz 持续上报，按键走边沿检测只在按下瞬间发一帧，115200 波特率下不拥堵。' },&#10;        { t: '保留原始值出口', d: '调试帧每 0.5 秒输出 6 路 ADC 原始值，串口助手可直接画曲线，用于校准与手感分析。' },&#10;      ].map((c, i) =&gt; (&#10;        &lt;Box key={i} style={{ flex: 1, flexDirection: 'column', gap: 10, padding: '18px 20px', background: '#FFFFFF', borderRadius: 10, boxShadow: '0 2px 12px rgba(0,0,0,0.06)', borderTop: '4px solid #2563EB' }}&gt;&#10;          &lt;Text style={{ fontSize: 23, fontWeight: 'bold', color: '#0F172A', fontFamily: 'Source Han Sans CN, sans-serif' }}&gt;{c.t}&lt;/Text&gt;&#10;          &lt;Text style={{ fontSize: 17, color: '#334155', lineHeight: 1.55, fontFamily: 'Source Han Sans CN, sans-serif' }}&gt;{c.d}&lt;/Text&gt;&#10;        &lt;/Box&gt;&#10;      ))}&#10;    &lt;/Box&gt;&#10;  &lt;/Box&gt;&#10;  &lt;Box style={{ height: 40, flexDirection: 'row', justifyContent: 'space-between', alignItems: 'center' }}&gt;&#10;    &lt;Text style={{ fontSize: 14, color: '#64748B', fontFamily: 'JetBrains Mono, monospace' }}&gt;STM32 双模游戏手柄 · 成果展示&lt;/Text&gt;&#10;    &lt;Text style={{ fontSize: 14, color: '#64748B', fontFamily: 'JetBrains Mono, monospace' }}&gt;07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矩形 2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4229100" y="190500"/>
            <a:ext cx="37338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Source Han Sans CN"/>
                <a:ea typeface="Source Han Sans CN"/>
              </a:rPr>
              <a:t>蓝牙：给</a:t>
            </a:r>
            <a:r>
              <a:rPr lang="en-US" sz="2700" b="1">
                <a:solidFill>
                  <a:srgbClr val="0F172A"/>
                </a:solidFill>
                <a:latin typeface="Source Han Sans CN"/>
                <a:ea typeface="Source Han Sans CN"/>
              </a:rPr>
              <a:t> MCU </a:t>
            </a:r>
            <a:r>
              <a:rPr lang="zh-CN" sz="2700" b="1">
                <a:solidFill>
                  <a:srgbClr val="0F172A"/>
                </a:solidFill>
                <a:latin typeface="Source Han Sans CN"/>
                <a:ea typeface="Source Han Sans CN"/>
              </a:rPr>
              <a:t>和手机用</a:t>
            </a:r>
            <a:endParaRPr/>
          </a:p>
        </p:txBody>
      </p:sp>
      <p:pic>
        <p:nvPicPr>
          <p:cNvPr id="242" name="图形 24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1000125"/>
            <a:ext cx="11049000" cy="2762250"/>
          </a:xfrm>
          <a:prstGeom prst="rect">
            <a:avLst/>
          </a:prstGeom>
          <a:ln/>
        </p:spPr>
      </p:pic>
      <p:sp>
        <p:nvSpPr>
          <p:cNvPr id="243" name="矩形: 圆角 242"/>
          <p:cNvSpPr/>
          <p:nvPr/>
        </p:nvSpPr>
        <p:spPr>
          <a:xfrm>
            <a:off x="571500" y="4019550"/>
            <a:ext cx="3552825" cy="230505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4" name="任意多边形: 形状 243"/>
          <p:cNvSpPr/>
          <p:nvPr/>
        </p:nvSpPr>
        <p:spPr>
          <a:xfrm>
            <a:off x="571500" y="4019550"/>
            <a:ext cx="3552825" cy="2305050"/>
          </a:xfrm>
          <a:custGeom>
            <a:avLst/>
            <a:gdLst/>
            <a:ahLst/>
            <a:cxnLst/>
            <a:rect l="0" t="0" r="0" b="0"/>
            <a:pathLst>
              <a:path w="373" h="242">
                <a:moveTo>
                  <a:pt x="363" y="0"/>
                </a:moveTo>
                <a:cubicBezTo>
                  <a:pt x="368" y="0"/>
                  <a:pt x="372" y="4"/>
                  <a:pt x="373" y="8"/>
                </a:cubicBezTo>
                <a:cubicBezTo>
                  <a:pt x="372" y="6"/>
                  <a:pt x="370" y="4"/>
                  <a:pt x="367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762000" y="4191000"/>
            <a:ext cx="31718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F172A"/>
                </a:solidFill>
                <a:latin typeface="Source Han Sans CN"/>
                <a:ea typeface="Source Han Sans CN"/>
              </a:rPr>
              <a:t>文本帧，零解析成本</a:t>
            </a:r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762000" y="4552950"/>
            <a:ext cx="317182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对端是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STM32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小车时，按逗号切分即可取值；串口助手里也能直接读懂，不需要专门的解析工具。</a:t>
            </a:r>
            <a:endParaRPr/>
          </a:p>
        </p:txBody>
      </p:sp>
      <p:sp>
        <p:nvSpPr>
          <p:cNvPr id="247" name="矩形: 圆角 246"/>
          <p:cNvSpPr/>
          <p:nvPr/>
        </p:nvSpPr>
        <p:spPr>
          <a:xfrm>
            <a:off x="4314825" y="4019550"/>
            <a:ext cx="3562350" cy="230505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8" name="任意多边形: 形状 247"/>
          <p:cNvSpPr/>
          <p:nvPr/>
        </p:nvSpPr>
        <p:spPr>
          <a:xfrm>
            <a:off x="4314825" y="4019550"/>
            <a:ext cx="3562350" cy="2305050"/>
          </a:xfrm>
          <a:custGeom>
            <a:avLst/>
            <a:gdLst/>
            <a:ahLst/>
            <a:cxnLst/>
            <a:rect l="0" t="0" r="0" b="0"/>
            <a:pathLst>
              <a:path w="374" h="242">
                <a:moveTo>
                  <a:pt x="364" y="0"/>
                </a:moveTo>
                <a:cubicBezTo>
                  <a:pt x="369" y="0"/>
                  <a:pt x="373" y="4"/>
                  <a:pt x="374" y="8"/>
                </a:cubicBezTo>
                <a:cubicBezTo>
                  <a:pt x="373" y="6"/>
                  <a:pt x="371" y="4"/>
                  <a:pt x="36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4505325" y="4191000"/>
            <a:ext cx="31813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F172A"/>
                </a:solidFill>
                <a:latin typeface="Source Han Sans CN"/>
                <a:ea typeface="Source Han Sans CN"/>
              </a:rPr>
              <a:t>按键只发一次</a:t>
            </a:r>
            <a:endParaRPr/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4505325" y="4552950"/>
            <a:ext cx="3181350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摇杆按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50Hz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持续上报，按键走边沿检测只在按下瞬间发一帧，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115200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波特率下不拥堵。</a:t>
            </a:r>
            <a:endParaRPr/>
          </a:p>
        </p:txBody>
      </p:sp>
      <p:sp>
        <p:nvSpPr>
          <p:cNvPr id="251" name="矩形: 圆角 250"/>
          <p:cNvSpPr/>
          <p:nvPr/>
        </p:nvSpPr>
        <p:spPr>
          <a:xfrm>
            <a:off x="8067675" y="4019550"/>
            <a:ext cx="3552825" cy="230505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2" name="任意多边形: 形状 251"/>
          <p:cNvSpPr/>
          <p:nvPr/>
        </p:nvSpPr>
        <p:spPr>
          <a:xfrm>
            <a:off x="8067675" y="4019550"/>
            <a:ext cx="3552825" cy="2305050"/>
          </a:xfrm>
          <a:custGeom>
            <a:avLst/>
            <a:gdLst/>
            <a:ahLst/>
            <a:cxnLst/>
            <a:rect l="0" t="0" r="0" b="0"/>
            <a:pathLst>
              <a:path w="373" h="242">
                <a:moveTo>
                  <a:pt x="363" y="0"/>
                </a:moveTo>
                <a:cubicBezTo>
                  <a:pt x="368" y="0"/>
                  <a:pt x="372" y="4"/>
                  <a:pt x="373" y="8"/>
                </a:cubicBezTo>
                <a:cubicBezTo>
                  <a:pt x="372" y="6"/>
                  <a:pt x="370" y="4"/>
                  <a:pt x="367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8258175" y="4191000"/>
            <a:ext cx="31718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F172A"/>
                </a:solidFill>
                <a:latin typeface="Source Han Sans CN"/>
                <a:ea typeface="Source Han Sans CN"/>
              </a:rPr>
              <a:t>保留原始值出口</a:t>
            </a:r>
            <a:endParaRPr/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8258175" y="4552950"/>
            <a:ext cx="317182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调试帧每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0.5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秒输出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6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路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ADC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原始值，串口助手可直接画曲线，用于校准与手感分析。</a:t>
            </a:r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571500" y="6400800"/>
            <a:ext cx="2057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STM32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双模游戏手柄</a:t>
            </a: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 ·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成果展示</a:t>
            </a:r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11058525" y="64008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12 / 16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20px 60px', background: '#F8FAFC', flexDirection: 'column' }}&gt;&#10;  &lt;Box style={{ height: 80, justifyContent: 'flex-start', alignItems: 'center' }}&gt;&#10;    &lt;Text style={{ fontSize: 36, fontWeight: 'bold', color: '#0F172A', fontFamily: 'Source Han Sans CN, sans-serif' }}&gt;OLED 菜单与测试界面&lt;/Text&gt;&#10;  &lt;/Box&gt;&#10;  &lt;Box style={{ height: 560, flexDirection: 'row', gap: 40, alignItems: 'stretch' }}&gt;&#10;    &lt;Box style={{ width: 640, justifyContent: 'center', alignItems: 'center' }}&gt;&#10;      &lt;svg width='640' height='500' viewBox='0 0 640 500'&gt;&#10;        &lt;text x='30' y='28' fill='#0F172A' fontSize='17' fontFamily='Source Han Sans CN, sans-serif' fontWeight='bold'&gt;菜单状态机&lt;/text&gt;&#10;        {[&#10;          { x: 70, l: '待机', c: '#0F172A' },&#10;          { x: 220, l: '主菜单', c: '#2563EB' },&#10;          { x: 370, l: '测试界面', c: '#16A34A' },&#10;        ].map((n, i) =&gt; (&#10;          &lt;g key={i}&gt;&#10;            &lt;rect x={n.x} y='48' width='110' height='46' rx='8' fill={n.c} /&gt;&#10;            &lt;text x={n.x + 55} y='77' textAnchor='middle' fill='#FFFFFF' fontSize='15' fontFamily='Source Han Sans CN, sans-serif' fontWeight='bold'&gt;{n.l}&lt;/text&gt;&#10;            {i &lt; 2 &amp;&amp; &lt;line x1={n.x + 110} y1='71' x2={n.x + 150} y2='71' stroke='#CBD5E1' strokeWidth='2' /&gt;}&#10;            {i &lt; 2 &amp;&amp; &lt;polygon points={[n.x + 150, 65, n.x + 162, 71, n.x + 150, 77].join(' ')} fill='#CBD5E1' /&gt;}&#10;          &lt;/g&gt;&#10;        ))}&#10;        &lt;text x='500' y='77' fill='#64748B' fontSize='13' fontFamily='Source Han Sans CN, sans-serif'&gt;Menu 键进入 · Home 键返回&lt;/text&gt;&#10;        &lt;text x='30' y='140' fill='#0F172A' fontSize='17' fontFamily='Source Han Sans CN, sans-serif' fontWeight='bold'&gt;测试界面（128×64，左右对称）&lt;/text&gt;&#10;        &lt;rect x='80' y='158' width='480' height='240' rx='8' fill='#0F172A' /&gt;&#10;        &lt;rect x='96' y='172' width='200' height='26' rx='4' fill='#1E293B' /&gt;&#10;        &lt;rect x='96' y='172' width='120' height='26' rx='4' fill='#2563EB' /&gt;&#10;        &lt;text x='98' y='190' fill='#FFFFFF' fontSize='11' fontFamily='JetBrains Mono, monospace'&gt;LT&lt;/text&gt;&#10;        &lt;rect x='344' y='172' width='200' height='26' rx='4' fill='#1E293B' /&gt;&#10;        &lt;rect x='424' y='172' width='120' height='26' rx='4' fill='#2563EB' /&gt;&#10;        &lt;text x='348' y='190' fill='#FFFFFF' fontSize='11' fontFamily='JetBrains Mono, monospace'&gt;RT&lt;/text&gt;&#10;        &lt;rect x='106' y='216' width='160' height='160' rx='4' fill='none' stroke='#475569' strokeWidth='1.5' /&gt;&#10;        &lt;line x1='186' y1='216' x2='186' y2='376' stroke='#334155' strokeWidth='1' /&gt;&#10;        &lt;line x1='106' y1='296' x2='266' y2='296' stroke='#334155' strokeWidth='1' /&gt;&#10;        &lt;circle cx='186' cy='296' r='38' fill='none' stroke='#2563EB' strokeWidth='1.5' /&gt;&#10;        &lt;circle cx='220' cy='276' r='6' fill='#38BDF8' /&gt;&#10;        &lt;rect x='374' y='216' width='160' height='160' rx='4' fill='none' stroke='#475569' strokeWidth='1.5' /&gt;&#10;        &lt;line x1='454' y1='216' x2='454' y2='376' stroke='#334155' strokeWidth='1' /&gt;&#10;        &lt;line x1='374' y1='296' x2='534' y2='296' stroke='#334155' strokeWidth='1' /&gt;&#10;        &lt;circle cx='454' cy='296' r='38' fill='none' stroke='#16A34A' strokeWidth='1.5' /&gt;&#10;        &lt;circle cx='454' cy='296' r='6' fill='#86EFAC' /&gt;&#10;        &lt;line x1='320' y1='216' x2='320' y2='376' stroke='#475569' strokeWidth='1' strokeDasharray='4,4' /&gt;&#10;        &lt;text x='320' y='420' textAnchor='middle' fill='#64748B' fontSize='12' fontFamily='Source Han Sans CN, sans-serif'&gt;关于 x=64 对称&lt;/text&gt;&#10;        &lt;rect x='80' y='426' width='480' height='60' rx='6' fill='#FFFFFF' stroke='#E2E8F0' strokeWidth='2' /&gt;&#10;        &lt;text x='100' y='450' fill='#0F172A' fontSize='13' fontFamily='Source Han Sans CN, sans-serif'&gt;刷新策略：像素坐标未变则跳过写入，省下 I2C 带宽&lt;/text&gt;&#10;        &lt;text x='100' y='472' fill='#64748B' fontSize='12' fontFamily='Source Han Sans CN, sans-serif'&gt;熄屏 / 切界面 / 清屏之后，强制一次全量重画&lt;/text&gt;&#10;      &lt;/svg&gt;&#10;    &lt;/Box&gt;&#10;    &lt;Box style={{ flex: 1, flexDirection: 'column', gap: 16, justifyContent: 'center' }}&gt;&#10;      &lt;Text style={{ fontSize: 20, color: '#334155', lineHeight: 1.6, fontFamily: 'Source Han Sans CN, sans-serif' }}&gt;&#10;        0.96 英寸 OLED 128×64 走软件 I2C（PB12 / PB13），承担菜单导航、参数调节与实时状态显示。&#10;      &lt;/Text&gt;&#10;      &lt;Box style={{ padding: 16, background: '#FFFFFF', borderRadius: 8, borderLeft: '4px solid #2563EB', boxShadow: '0 2px 12px rgba(0,0,0,0.06)' }}&gt;&#10;        &lt;Text style={{ fontSize: 19, fontWeight: 'bold', color: '#0F172A', marginBottom: 6, fontFamily: 'Source Han Sans CN, sans-serif' }}&gt;测试界面实时反馈&lt;/Text&gt;&#10;        &lt;Text style={{ fontSize: 17, color: '#334155', lineHeight: 1.5, fontFamily: 'Source Han Sans CN, sans-serif' }}&gt;&#10;          顶部左右各一条 LT / RT 扳机条，中部两个摇杆框显示实时落点，推到哪儿点走到哪儿。&#10;        &lt;/Text&gt;&#10;      &lt;/Box&gt;&#10;      &lt;Box style={{ padding: 16, background: '#FFFFFF', borderRadius: 8, borderLeft: '4px solid #2563EB', boxShadow: '0 2px 12px rgba(0,0,0,0.06)' }}&gt;&#10;        &lt;Text style={{ fontSize: 19, fontWeight: 'bold', color: '#0F172A', marginBottom: 6, fontFamily: 'Source Han Sans CN, sans-serif' }}&gt;可调参数&lt;/Text&gt;&#10;        &lt;Text style={{ fontSize: 17, color: '#334155', lineHeight: 1.5, fontFamily: 'Source Han Sans CN, sans-serif' }}&gt;&#10;          死区、滤波强度、屏幕亮度、熄屏时间、工作模式与蓝牙输出格式，均可在菜单里调整并保存。&#10;        &lt;/Text&gt;&#10;      &lt;/Box&gt;&#10;      &lt;Box style={{ padding: 16, background: '#0F172A', borderRadius: 8 }}&gt;&#10;        &lt;Text style={{ fontSize: 17, color: '#FFFFFF', lineHeight: 1.5, fontFamily: 'Source Han Sans CN, sans-serif' }}&gt;&#10;          &lt;span style={{ color: '#38BDF8', fontWeight: 'bold' }}&gt;开机动画：&lt;/span&gt;上电播放启动画面，同时完成 OLED 总线自检与摇杆中心校准。&#10;        &lt;/Text&gt;&#10;      &lt;/Box&gt;&#10;    &lt;/Box&gt;&#10;  &lt;/Box&gt;&#10;  &lt;Box style={{ height: 40, flexDirection: 'row', justifyContent: 'space-between', alignItems: 'center' }}&gt;&#10;    &lt;Text style={{ fontSize: 14, color: '#64748B', fontFamily: 'JetBrains Mono, monospace' }}&gt;STM32 双模游戏手柄 · 成果展示&lt;/Text&gt;&#10;    &lt;Text style={{ fontSize: 14, color: '#64748B', fontFamily: 'JetBrains Mono, monospace' }}&gt;08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矩形 2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4381500" y="190500"/>
            <a:ext cx="343852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F172A"/>
                </a:solidFill>
                <a:latin typeface="Source Han Sans CN"/>
                <a:ea typeface="Source Han Sans CN"/>
              </a:rPr>
              <a:t>OLED </a:t>
            </a:r>
            <a:r>
              <a:rPr lang="zh-CN" sz="2700" b="1">
                <a:solidFill>
                  <a:srgbClr val="0F172A"/>
                </a:solidFill>
                <a:latin typeface="Source Han Sans CN"/>
                <a:ea typeface="Source Han Sans CN"/>
              </a:rPr>
              <a:t>菜单与测试界面</a:t>
            </a:r>
            <a:endParaRPr/>
          </a:p>
        </p:txBody>
      </p:sp>
      <p:pic>
        <p:nvPicPr>
          <p:cNvPr id="260" name="图形 25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1238250"/>
            <a:ext cx="6096000" cy="4762500"/>
          </a:xfrm>
          <a:prstGeom prst="rect">
            <a:avLst/>
          </a:prstGeom>
          <a:ln/>
        </p:spPr>
      </p:pic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7048500" y="1409700"/>
            <a:ext cx="4572000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334155"/>
                </a:solidFill>
                <a:latin typeface="Source Han Sans CN"/>
                <a:ea typeface="Source Han Sans CN"/>
              </a:rPr>
              <a:t>0.96 </a:t>
            </a:r>
            <a:r>
              <a:rPr lang="zh-CN" sz="1500">
                <a:solidFill>
                  <a:srgbClr val="334155"/>
                </a:solidFill>
                <a:latin typeface="Source Han Sans CN"/>
                <a:ea typeface="Source Han Sans CN"/>
              </a:rPr>
              <a:t>英寸</a:t>
            </a:r>
            <a:r>
              <a:rPr lang="en-US" sz="1500">
                <a:solidFill>
                  <a:srgbClr val="334155"/>
                </a:solidFill>
                <a:latin typeface="Source Han Sans CN"/>
                <a:ea typeface="Source Han Sans CN"/>
              </a:rPr>
              <a:t> OLED 128×64 </a:t>
            </a:r>
            <a:r>
              <a:rPr lang="zh-CN" sz="1500">
                <a:solidFill>
                  <a:srgbClr val="334155"/>
                </a:solidFill>
                <a:latin typeface="Source Han Sans CN"/>
                <a:ea typeface="Source Han Sans CN"/>
              </a:rPr>
              <a:t>走软件</a:t>
            </a:r>
            <a:r>
              <a:rPr lang="en-US" sz="1500">
                <a:solidFill>
                  <a:srgbClr val="334155"/>
                </a:solidFill>
                <a:latin typeface="Source Han Sans CN"/>
                <a:ea typeface="Source Han Sans CN"/>
              </a:rPr>
              <a:t> I2C</a:t>
            </a:r>
            <a:r>
              <a:rPr lang="zh-CN" sz="1500">
                <a:solidFill>
                  <a:srgbClr val="334155"/>
                </a:solidFill>
                <a:latin typeface="Source Han Sans CN"/>
                <a:ea typeface="Source Han Sans CN"/>
              </a:rPr>
              <a:t>（</a:t>
            </a:r>
            <a:r>
              <a:rPr lang="en-US" sz="1500">
                <a:solidFill>
                  <a:srgbClr val="334155"/>
                </a:solidFill>
                <a:latin typeface="Source Han Sans CN"/>
                <a:ea typeface="Source Han Sans CN"/>
              </a:rPr>
              <a:t>PB13 / PB16</a:t>
            </a:r>
            <a:r>
              <a:rPr lang="zh-CN" sz="1500">
                <a:solidFill>
                  <a:srgbClr val="334155"/>
                </a:solidFill>
                <a:latin typeface="Source Han Sans CN"/>
                <a:ea typeface="Source Han Sans CN"/>
              </a:rPr>
              <a:t>），承担菜单导航、参数调节与实时状态显示。</a:t>
            </a:r>
            <a:endParaRPr/>
          </a:p>
        </p:txBody>
      </p:sp>
      <p:sp>
        <p:nvSpPr>
          <p:cNvPr id="262" name="矩形: 圆角 261"/>
          <p:cNvSpPr/>
          <p:nvPr/>
        </p:nvSpPr>
        <p:spPr>
          <a:xfrm>
            <a:off x="7086600" y="2295525"/>
            <a:ext cx="4572000" cy="1171575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3" name="任意多边形: 形状 262"/>
          <p:cNvSpPr/>
          <p:nvPr/>
        </p:nvSpPr>
        <p:spPr>
          <a:xfrm>
            <a:off x="7086600" y="2295525"/>
            <a:ext cx="4572000" cy="1171575"/>
          </a:xfrm>
          <a:custGeom>
            <a:avLst/>
            <a:gdLst/>
            <a:ahLst/>
            <a:cxnLst/>
            <a:rect l="0" t="0" r="0" b="0"/>
            <a:pathLst>
              <a:path w="480" h="12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9"/>
                </a:lnTo>
                <a:cubicBezTo>
                  <a:pt x="4" y="121"/>
                  <a:pt x="5" y="123"/>
                  <a:pt x="7" y="123"/>
                </a:cubicBezTo>
                <a:cubicBezTo>
                  <a:pt x="3" y="123"/>
                  <a:pt x="0" y="119"/>
                  <a:pt x="0" y="11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7239000" y="2447925"/>
            <a:ext cx="4229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Source Han Sans CN"/>
                <a:ea typeface="Source Han Sans CN"/>
              </a:rPr>
              <a:t>测试界面实时反馈</a:t>
            </a:r>
            <a:endParaRPr/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7239000" y="2724150"/>
            <a:ext cx="42291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顶部左右各一条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LT / RT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扳机条，中部两个摇杆框显示实时落点，推到哪儿点走到哪儿。</a:t>
            </a:r>
            <a:endParaRPr/>
          </a:p>
        </p:txBody>
      </p:sp>
      <p:sp>
        <p:nvSpPr>
          <p:cNvPr id="266" name="矩形: 圆角 265"/>
          <p:cNvSpPr/>
          <p:nvPr/>
        </p:nvSpPr>
        <p:spPr>
          <a:xfrm>
            <a:off x="7086600" y="3619500"/>
            <a:ext cx="4572000" cy="1171575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7" name="任意多边形: 形状 266"/>
          <p:cNvSpPr/>
          <p:nvPr/>
        </p:nvSpPr>
        <p:spPr>
          <a:xfrm>
            <a:off x="7086600" y="3619500"/>
            <a:ext cx="4572000" cy="1171575"/>
          </a:xfrm>
          <a:custGeom>
            <a:avLst/>
            <a:gdLst/>
            <a:ahLst/>
            <a:cxnLst/>
            <a:rect l="0" t="0" r="0" b="0"/>
            <a:pathLst>
              <a:path w="480" h="12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9"/>
                </a:lnTo>
                <a:cubicBezTo>
                  <a:pt x="4" y="121"/>
                  <a:pt x="5" y="123"/>
                  <a:pt x="7" y="123"/>
                </a:cubicBezTo>
                <a:cubicBezTo>
                  <a:pt x="3" y="123"/>
                  <a:pt x="0" y="119"/>
                  <a:pt x="0" y="11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7239000" y="3771900"/>
            <a:ext cx="4229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Source Han Sans CN"/>
                <a:ea typeface="Source Han Sans CN"/>
              </a:rPr>
              <a:t>可调参数</a:t>
            </a:r>
            <a:endParaRPr/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7239000" y="4048125"/>
            <a:ext cx="42291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死区、滤波强度、屏幕亮度、熄屏时间、工作模式与蓝牙输出格式，均可在菜单里调整并保存。</a:t>
            </a:r>
            <a:endParaRPr/>
          </a:p>
        </p:txBody>
      </p:sp>
      <p:sp>
        <p:nvSpPr>
          <p:cNvPr id="270" name="矩形: 圆角 269"/>
          <p:cNvSpPr/>
          <p:nvPr/>
        </p:nvSpPr>
        <p:spPr>
          <a:xfrm>
            <a:off x="7048500" y="4943475"/>
            <a:ext cx="4572000" cy="895350"/>
          </a:xfrm>
          <a:prstGeom prst="roundRect">
            <a:avLst>
              <a:gd name="adj" fmla="val 8511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7200900" y="5095875"/>
            <a:ext cx="42672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38BDF8"/>
                </a:solidFill>
                <a:latin typeface="Source Han Sans CN"/>
                <a:ea typeface="Source Han Sans CN"/>
              </a:rPr>
              <a:t>开机动画：</a:t>
            </a:r>
            <a:r>
              <a:rPr lang="zh-CN" sz="1275">
                <a:solidFill>
                  <a:srgbClr val="FFFFFF"/>
                </a:solidFill>
                <a:latin typeface="Source Han Sans CN"/>
                <a:ea typeface="Source Han Sans CN"/>
              </a:rPr>
              <a:t>上电播放启动画面，同时完成</a:t>
            </a:r>
            <a:r>
              <a:rPr lang="en-US" sz="1275">
                <a:solidFill>
                  <a:srgbClr val="FFFFFF"/>
                </a:solidFill>
                <a:latin typeface="Source Han Sans CN"/>
                <a:ea typeface="Source Han Sans CN"/>
              </a:rPr>
              <a:t> OLED </a:t>
            </a:r>
            <a:r>
              <a:rPr lang="zh-CN" sz="1275">
                <a:solidFill>
                  <a:srgbClr val="FFFFFF"/>
                </a:solidFill>
                <a:latin typeface="Source Han Sans CN"/>
                <a:ea typeface="Source Han Sans CN"/>
              </a:rPr>
              <a:t>总线自检与摇杆中心校准。</a:t>
            </a:r>
            <a:endParaRPr/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571500" y="6400800"/>
            <a:ext cx="2057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STM32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双模游戏手柄</a:t>
            </a: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 ·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成果展示</a:t>
            </a:r>
            <a:endParaRPr/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11058525" y="64008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13 / 16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F172A"/>
                </a:solidFill>
                <a:latin typeface="Source Han Sans CN"/>
              </a:defRPr>
            </a:pPr>
            <a:r>
              <a:t>开机流程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4748B"/>
                </a:solidFill>
                <a:latin typeface="Source Han Sans CN"/>
              </a:defRPr>
            </a:pPr>
            <a:r>
              <a:t>从上电到进入主循环的完整初始化序列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72540" y="1554480"/>
            <a:ext cx="141732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2540" y="1627632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8BDF8"/>
                </a:solidFill>
                <a:latin typeface="JetBrains Mono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8260" y="2011680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Source Han Sans CN"/>
              </a:defRPr>
            </a:pPr>
            <a:r>
              <a:t>USB HID 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8260" y="24505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BD5E1"/>
                </a:solidFill>
                <a:latin typeface="Source Han Sans CN"/>
              </a:defRPr>
            </a:pPr>
            <a:r>
              <a:t>最早就绪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9860" y="21031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2563EB"/>
                </a:solidFill>
                <a:latin typeface="JetBrains Mono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18460" y="1554480"/>
            <a:ext cx="141732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18460" y="1627632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8BDF8"/>
                </a:solidFill>
                <a:latin typeface="JetBrains Mon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4180" y="2011680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Source Han Sans CN"/>
              </a:defRPr>
            </a:pPr>
            <a:r>
              <a:t>USART1 初始化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4180" y="24505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BD5E1"/>
                </a:solidFill>
                <a:latin typeface="Source Han Sans CN"/>
              </a:defRPr>
            </a:pPr>
            <a:r>
              <a:t>115200bps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5780" y="21031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2563EB"/>
                </a:solidFill>
                <a:latin typeface="JetBrains Mono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64380" y="1554480"/>
            <a:ext cx="141732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4380" y="1627632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8BDF8"/>
                </a:solidFill>
                <a:latin typeface="JetBrains Mono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2011680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Source Han Sans CN"/>
              </a:defRPr>
            </a:pPr>
            <a:r>
              <a:t>GPIO + ADC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0100" y="24505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BD5E1"/>
                </a:solidFill>
                <a:latin typeface="Source Han Sans CN"/>
              </a:defRPr>
            </a:pPr>
            <a:r>
              <a:t>15键 + 6路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1700" y="21031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2563EB"/>
                </a:solidFill>
                <a:latin typeface="JetBrains Mono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300" y="1554480"/>
            <a:ext cx="141732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0300" y="1627632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8BDF8"/>
                </a:solidFill>
                <a:latin typeface="JetBrains Mono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6020" y="2011680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Source Han Sans CN"/>
              </a:defRPr>
            </a:pPr>
            <a:r>
              <a:t>WS2812 熄灭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6020" y="24505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BD5E1"/>
                </a:solidFill>
                <a:latin typeface="Source Han Sans CN"/>
              </a:defRPr>
            </a:pPr>
            <a:r>
              <a:t>PA8 拉低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7620" y="21031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2563EB"/>
                </a:solidFill>
                <a:latin typeface="JetBrains Mono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56220" y="1554480"/>
            <a:ext cx="141732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56220" y="1627632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8BDF8"/>
                </a:solidFill>
                <a:latin typeface="JetBrains Mono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1940" y="2011680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Source Han Sans CN"/>
              </a:defRPr>
            </a:pPr>
            <a:r>
              <a:t>OLED I2C 探测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1940" y="24505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BD5E1"/>
                </a:solidFill>
                <a:latin typeface="Source Han Sans CN"/>
              </a:defRPr>
            </a:pPr>
            <a:r>
              <a:t>0x78/0x7A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3540" y="21031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2563EB"/>
                </a:solidFill>
                <a:latin typeface="JetBrains Mono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2140" y="1554480"/>
            <a:ext cx="141732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2140" y="1627632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8BDF8"/>
                </a:solidFill>
                <a:latin typeface="JetBrains Mono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7860" y="2011680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Source Han Sans CN"/>
              </a:defRPr>
            </a:pPr>
            <a:r>
              <a:t>OLED 初始化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7860" y="24505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BD5E1"/>
                </a:solidFill>
                <a:latin typeface="Source Han Sans CN"/>
              </a:defRPr>
            </a:pPr>
            <a:r>
              <a:t>SSD1306 + 清屏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72540" y="3383280"/>
            <a:ext cx="141732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72540" y="3456432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8BDF8"/>
                </a:solidFill>
                <a:latin typeface="JetBrains Mono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8260" y="3840480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Source Han Sans CN"/>
              </a:defRPr>
            </a:pPr>
            <a:r>
              <a:t>开机动画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8260" y="42793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BD5E1"/>
                </a:solidFill>
                <a:latin typeface="Source Han Sans CN"/>
              </a:defRPr>
            </a:pPr>
            <a:r>
              <a:t>粒子 + 逐字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89860" y="39319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2563EB"/>
                </a:solidFill>
                <a:latin typeface="JetBrains Mono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18460" y="3383280"/>
            <a:ext cx="141732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18460" y="3456432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8BDF8"/>
                </a:solidFill>
                <a:latin typeface="JetBrains Mono"/>
              </a:defRPr>
            </a:pPr>
            <a: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64180" y="3840480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Source Han Sans CN"/>
              </a:defRPr>
            </a:pPr>
            <a:r>
              <a:t>菜单初始化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64180" y="42793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BD5E1"/>
                </a:solidFill>
                <a:latin typeface="Source Han Sans CN"/>
              </a:defRPr>
            </a:pPr>
            <a:r>
              <a:t>加载 Flash 参数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35780" y="39319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2563EB"/>
                </a:solidFill>
                <a:latin typeface="JetBrains Mono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64380" y="3383280"/>
            <a:ext cx="141732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64380" y="3456432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8BDF8"/>
                </a:solidFill>
                <a:latin typeface="JetBrains Mono"/>
              </a:defRPr>
            </a:pPr>
            <a: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0100" y="3840480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Source Han Sans CN"/>
              </a:defRPr>
            </a:pPr>
            <a:r>
              <a:t>摇杆校准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0100" y="42793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BD5E1"/>
                </a:solidFill>
                <a:latin typeface="Source Han Sans CN"/>
              </a:defRPr>
            </a:pPr>
            <a:r>
              <a:t>100次平均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1700" y="39319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2563EB"/>
                </a:solidFill>
                <a:latin typeface="JetBrains Mono"/>
              </a:defRPr>
            </a:pPr>
            <a: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0300" y="3383280"/>
            <a:ext cx="141732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10300" y="3456432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8BDF8"/>
                </a:solidFill>
                <a:latin typeface="JetBrains Mono"/>
              </a:defRPr>
            </a:pPr>
            <a: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6020" y="3840480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Source Han Sans CN"/>
              </a:defRPr>
            </a:pPr>
            <a:r>
              <a:t>进入测试界面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6020" y="42793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BD5E1"/>
                </a:solidFill>
                <a:latin typeface="Source Han Sans CN"/>
              </a:defRPr>
            </a:pPr>
            <a:r>
              <a:t>开机自动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27620" y="39319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2563EB"/>
                </a:solidFill>
                <a:latin typeface="JetBrains Mono"/>
              </a:defRPr>
            </a:pPr>
            <a: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56220" y="3383280"/>
            <a:ext cx="141732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56220" y="3456432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8BDF8"/>
                </a:solidFill>
                <a:latin typeface="JetBrains Mono"/>
              </a:defRPr>
            </a:pPr>
            <a:r>
              <a:t>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1940" y="3840480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Source Han Sans CN"/>
              </a:defRPr>
            </a:pPr>
            <a:r>
              <a:t>主循环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1940" y="42793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BD5E1"/>
                </a:solidFill>
                <a:latin typeface="Source Han Sans CN"/>
              </a:defRPr>
            </a:pPr>
            <a:r>
              <a:t>100Hz 采集+分发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4155"/>
                </a:solidFill>
                <a:latin typeface="Source Han Sans CN"/>
              </a:defRPr>
            </a:pPr>
            <a:r>
              <a:t>USB 初始化置于最前，上电后第一时间就绪，插入即被识别。开机动画播放同时完成 OLED 总线自检与摇杆中心校准。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JetBrains Mono"/>
              </a:defRPr>
            </a:pPr>
            <a:r>
              <a:t>STM32 双模游戏手柄 · 成果展示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64465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64748B"/>
                </a:solidFill>
                <a:latin typeface="JetBrains Mono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20px 60px', background: '#F8FAFC', flexDirection: 'column' }}&gt;&#10;  &lt;Box style={{ height: 80, justifyContent: 'flex-start', alignItems: 'center' }}&gt;&#10;    &lt;Text style={{ fontSize: 36, fontWeight: 'bold', color: '#0F172A', fontFamily: 'Source Han Sans CN, sans-serif' }}&gt;Flash 断电保存&lt;/Text&gt;&#10;  &lt;/Box&gt;&#10;  &lt;Box style={{ height: 560, flexDirection: 'row', gap: 40, alignItems: 'stretch' }}&gt;&#10;    &lt;Box style={{ width: 640, justifyContent: 'center', alignItems: 'center' }}&gt;&#10;      &lt;svg width='640' height='500' viewBox='0 0 640 500'&gt;&#10;        &lt;text x='30' y='30' fill='#0F172A' fontSize='17' fontFamily='Source Han Sans CN, sans-serif' fontWeight='bold'&gt;存储布局（最后一页 0x0800FC00，1KB）&lt;/text&gt;&#10;        &lt;rect x='30' y='52' width='580' height='92' rx='6' fill='#FFFFFF' stroke='#E2E8F0' strokeWidth='2' /&gt;&#10;        {[&#10;          { x: 0, w: 120, l: 'magic 4B', c: '#BFDBFE' },&#10;          { x: 120, w: 80, l: 'ver 1B', c: '#BBF7D0' },&#10;          { x: 200, w: 250, l: 'PARAMS', c: '#FED7AA' },&#10;          { x: 450, w: 100, l: 'CRC16 2B', c: '#FBCFE8' },&#10;          { x: 550, w: 30, l: '—', c: '#E2E8F0' },&#10;        ].map((s, i) =&gt; (&#10;          &lt;g key={i}&gt;&#10;            &lt;rect x={30 + s.x} y='52' width={s.w} height='92' fill={s.c} stroke='#FFFFFF' strokeWidth='1' /&gt;&#10;            &lt;text x={30 + s.x + s.w / 2} y='104' textAnchor='middle' fill='#0F172A' fontSize='13' fontFamily='JetBrains Mono, monospace'&gt;{s.l}&lt;/text&gt;&#10;          &lt;/g&gt;&#10;        ))}&#10;        &lt;text x='30' y='172' fill='#64748B' fontSize='13' fontFamily='Source Han Sans CN, sans-serif'&gt;magic 判断首次上电 · version 支持结构体升级 · CRC16 校验数据完整性&lt;/text&gt;&#10;        &lt;text x='30' y='220' fill='#0F172A' fontSize='17' fontFamily='Source Han Sans CN, sans-serif' fontWeight='bold'&gt;上电加载流程&lt;/text&gt;&#10;        {[&#10;          { y: 240, t: '读取 magic', s: '全 0xFF 则判定首次上电' },&#10;          { y: 300, t: '校验 version 与 CRC16', s: '任一项不匹配则回落默认参数' },&#10;          { y: 360, t: '载入 PARAMS', s: '死区 / 滤波 / 亮度 / 熄屏 / 模式 / 蓝牙配置' },&#10;          { y: 420, t: '写入时只写有效字节', s: '按半字编程，栈占用低，不影响主流程' },&#10;        ].map((n, i) =&gt; (&#10;          &lt;g key={i}&gt;&#10;            &lt;circle cx='46' cy={n.y + 13} r='13' fill='#2563EB' /&gt;&#10;            &lt;text x='46' y={n.y + 18} textAnchor='middle' fill='#FFFFFF' fontSize='12' fontFamily='JetBrains Mono, monospace' fontWeight='bold'&gt;{i + 1}&lt;/text&gt;&#10;            &lt;text x='72' y={n.y + 10} fill='#0F172A' fontSize='14' fontFamily='Source Han Sans CN, sans-serif' fontWeight='bold'&gt;{n.t}&lt;/text&gt;&#10;            &lt;text x='72' y={n.y + 32} fill='#64748B' fontSize='13' fontFamily='Source Han Sans CN, sans-serif'&gt;{n.s}&lt;/text&gt;&#10;            {i &lt; 3 &amp;&amp; &lt;line x1='46' y1={n.y + 26} x2='46' y2={n.y + 60} stroke='#CBD5E1' strokeWidth='2' /&gt;}&#10;          &lt;/g&gt;&#10;        ))}&#10;      &lt;/svg&gt;&#10;    &lt;/Box&gt;&#10;    &lt;Box style={{ flex: 1, flexDirection: 'column', gap: 16, justifyContent: 'center' }}&gt;&#10;      &lt;Text style={{ fontSize: 20, color: '#334155', lineHeight: 1.6, fontFamily: 'Source Han Sans CN, sans-serif' }}&gt;&#10;        所有可调参数保存在片内 Flash 最后一页，掉电不丢失，上电自动恢复上次设置。&#10;      &lt;/Text&gt;&#10;      {[&#10;        { k: '摇杆', v: '死区大小、滤波强度' },&#10;        { k: '显示', v: '屏幕亮度、自动熄屏时间' },&#10;        { k: '模式', v: '工作模式（游戏 / 蓝牙）' },&#10;        { k: '蓝牙', v: '帧头帧尾、输出格式、换行符' },&#10;      ].map((r, i) =&gt; (&#10;        &lt;Box key={i} style={{ flexDirection: 'row', gap: 14, padding: '12px 18px', background: '#FFFFFF', borderRadius: 8, boxShadow: '0 1px 8px rgba(0,0,0,0.05)', alignItems: 'flex-start' }}&gt;&#10;          &lt;Text style={{ width: 56, fontSize: 17, fontWeight: 'bold', color: '#2563EB', fontFamily: 'Source Han Sans CN, sans-serif' }}&gt;{r.k}&lt;/Text&gt;&#10;          &lt;Text style={{ flex: 1, fontSize: 17, color: '#334155', lineHeight: 1.5, fontFamily: 'Source Han Sans CN, sans-serif' }}&gt;{r.v}&lt;/Text&gt;&#10;        &lt;/Box&gt;&#10;      ))}&#10;      &lt;Box style={{ padding: 16, background: '#0F172A', borderRadius: 8, marginTop: 4 }}&gt;&#10;        &lt;Text style={{ fontSize: 17, color: '#FFFFFF', lineHeight: 1.5, fontFamily: 'Source Han Sans CN, sans-serif' }}&gt;&#10;          &lt;span style={{ color: '#38BDF8', fontWeight: 'bold' }}&gt;为什么放最后一页：&lt;/span&gt;该页不存放代码，单独擦写不会影响固件本身。&#10;        &lt;/Text&gt;&#10;      &lt;/Box&gt;&#10;    &lt;/Box&gt;&#10;  &lt;/Box&gt;&#10;  &lt;Box style={{ height: 40, flexDirection: 'row', justifyContent: 'space-between', alignItems: 'center' }}&gt;&#10;    &lt;Text style={{ fontSize: 14, color: '#64748B', fontFamily: 'JetBrains Mono, monospace' }}&gt;STM32 双模游戏手柄 · 成果展示&lt;/Text&gt;&#10;    &lt;Text style={{ fontSize: 14, color: '#64748B', fontFamily: 'JetBrains Mono, monospace' }}&gt;09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矩形 2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4905375" y="190500"/>
            <a:ext cx="238125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F172A"/>
                </a:solidFill>
                <a:latin typeface="Source Han Sans CN"/>
                <a:ea typeface="Source Han Sans CN"/>
              </a:rPr>
              <a:t>Flash </a:t>
            </a:r>
            <a:r>
              <a:rPr lang="zh-CN" sz="2700" b="1">
                <a:solidFill>
                  <a:srgbClr val="0F172A"/>
                </a:solidFill>
                <a:latin typeface="Source Han Sans CN"/>
                <a:ea typeface="Source Han Sans CN"/>
              </a:rPr>
              <a:t>断电保存</a:t>
            </a:r>
            <a:endParaRPr/>
          </a:p>
        </p:txBody>
      </p:sp>
      <p:pic>
        <p:nvPicPr>
          <p:cNvPr id="277" name="图形 27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1238250"/>
            <a:ext cx="6096000" cy="4762500"/>
          </a:xfrm>
          <a:prstGeom prst="rect">
            <a:avLst/>
          </a:prstGeom>
          <a:ln/>
        </p:spPr>
      </p:pic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7048500" y="1362075"/>
            <a:ext cx="4572000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334155"/>
                </a:solidFill>
                <a:latin typeface="Source Han Sans CN"/>
                <a:ea typeface="Source Han Sans CN"/>
              </a:rPr>
              <a:t>所有可调参数保存在片内</a:t>
            </a:r>
            <a:r>
              <a:rPr lang="en-US" sz="1500">
                <a:solidFill>
                  <a:srgbClr val="334155"/>
                </a:solidFill>
                <a:latin typeface="Source Han Sans CN"/>
                <a:ea typeface="Source Han Sans CN"/>
              </a:rPr>
              <a:t> Flash </a:t>
            </a:r>
            <a:r>
              <a:rPr lang="zh-CN" sz="1500">
                <a:solidFill>
                  <a:srgbClr val="334155"/>
                </a:solidFill>
                <a:latin typeface="Source Han Sans CN"/>
                <a:ea typeface="Source Han Sans CN"/>
              </a:rPr>
              <a:t>最后一页，掉电不丢失，上电自动恢复上次设置。</a:t>
            </a:r>
            <a:endParaRPr/>
          </a:p>
        </p:txBody>
      </p:sp>
      <p:sp>
        <p:nvSpPr>
          <p:cNvPr id="279" name="矩形: 圆角 278"/>
          <p:cNvSpPr/>
          <p:nvPr/>
        </p:nvSpPr>
        <p:spPr>
          <a:xfrm>
            <a:off x="7048500" y="2247900"/>
            <a:ext cx="457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7219950" y="2362200"/>
            <a:ext cx="533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CN"/>
                <a:ea typeface="Source Han Sans CN"/>
              </a:rPr>
              <a:t>摇杆</a:t>
            </a:r>
            <a:endParaRPr/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7886700" y="2362200"/>
            <a:ext cx="35623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死区大小、滤波强度</a:t>
            </a:r>
            <a:endParaRPr/>
          </a:p>
        </p:txBody>
      </p:sp>
      <p:sp>
        <p:nvSpPr>
          <p:cNvPr id="282" name="矩形: 圆角 281"/>
          <p:cNvSpPr/>
          <p:nvPr/>
        </p:nvSpPr>
        <p:spPr>
          <a:xfrm>
            <a:off x="7048500" y="2924175"/>
            <a:ext cx="457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7219950" y="3038475"/>
            <a:ext cx="533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CN"/>
                <a:ea typeface="Source Han Sans CN"/>
              </a:rPr>
              <a:t>显示</a:t>
            </a:r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886700" y="3038475"/>
            <a:ext cx="35623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屏幕亮度、自动熄屏时间</a:t>
            </a:r>
            <a:endParaRPr/>
          </a:p>
        </p:txBody>
      </p:sp>
      <p:sp>
        <p:nvSpPr>
          <p:cNvPr id="285" name="矩形: 圆角 284"/>
          <p:cNvSpPr/>
          <p:nvPr/>
        </p:nvSpPr>
        <p:spPr>
          <a:xfrm>
            <a:off x="7048500" y="3600450"/>
            <a:ext cx="457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7219950" y="3714750"/>
            <a:ext cx="533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CN"/>
                <a:ea typeface="Source Han Sans CN"/>
              </a:rPr>
              <a:t>模式</a:t>
            </a:r>
            <a:endParaRPr/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7886700" y="3714750"/>
            <a:ext cx="35623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工作模式（游戏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/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蓝牙）</a:t>
            </a:r>
            <a:endParaRPr/>
          </a:p>
        </p:txBody>
      </p:sp>
      <p:sp>
        <p:nvSpPr>
          <p:cNvPr id="288" name="矩形: 圆角 287"/>
          <p:cNvSpPr/>
          <p:nvPr/>
        </p:nvSpPr>
        <p:spPr>
          <a:xfrm>
            <a:off x="7048500" y="4276725"/>
            <a:ext cx="457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7219950" y="4391025"/>
            <a:ext cx="533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CN"/>
                <a:ea typeface="Source Han Sans CN"/>
              </a:rPr>
              <a:t>蓝牙</a:t>
            </a:r>
            <a:endParaRPr/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7886700" y="4391025"/>
            <a:ext cx="35623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帧头帧尾、输出格式、换行符</a:t>
            </a:r>
            <a:endParaRPr/>
          </a:p>
        </p:txBody>
      </p:sp>
      <p:sp>
        <p:nvSpPr>
          <p:cNvPr id="291" name="矩形: 圆角 290"/>
          <p:cNvSpPr/>
          <p:nvPr/>
        </p:nvSpPr>
        <p:spPr>
          <a:xfrm>
            <a:off x="7048500" y="4991100"/>
            <a:ext cx="4572000" cy="895350"/>
          </a:xfrm>
          <a:prstGeom prst="roundRect">
            <a:avLst>
              <a:gd name="adj" fmla="val 8511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7200900" y="5143500"/>
            <a:ext cx="42672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38BDF8"/>
                </a:solidFill>
                <a:latin typeface="Source Han Sans CN"/>
                <a:ea typeface="Source Han Sans CN"/>
              </a:rPr>
              <a:t>为什么放最后一页：</a:t>
            </a:r>
            <a:r>
              <a:rPr lang="zh-CN" sz="1275">
                <a:solidFill>
                  <a:srgbClr val="FFFFFF"/>
                </a:solidFill>
                <a:latin typeface="Source Han Sans CN"/>
                <a:ea typeface="Source Han Sans CN"/>
              </a:rPr>
              <a:t>该页不存放代码，单独擦写不会影响固件本身。</a:t>
            </a:r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571500" y="6400800"/>
            <a:ext cx="2057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STM32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双模游戏手柄</a:t>
            </a: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 ·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成果展示</a:t>
            </a:r>
            <a:endParaRPr/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11058525" y="64008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15 / 16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20px 60px', background: '#F8FAFC', flexDirection: 'column' }}&gt;&#10;  &lt;Box style={{ height: 80, flexDirection: 'row', justifyContent: 'space-between', alignItems: 'center' }}&gt;&#10;    &lt;Text style={{ fontSize: 36, fontWeight: 'bold', color: '#0F172A', fontFamily: 'Source Han Sans CN, sans-serif' }}&gt;软件工程&lt;/Text&gt;&#10;    &lt;Text style={{ fontSize: 16, color: '#64748B', fontFamily: 'Source Han Sans CN, sans-serif' }}&gt;交付物可回溯、可验证&lt;/Text&gt;&#10;  &lt;/Box&gt;&#10;  &lt;Box style={{ height: 560, flexDirection: 'row', gap: 26, alignItems: 'stretch' }}&gt;&#10;    {[&#10;      { n: '01', t: '代码规模与模块化', items: ['Code≈19 KB，8 个模块职责单一，不跨层调用', 'main.c 只做调度，硬件细节全部收在 HARDWARE 层', '对外统一暴露 GetNorm / GetRaw / GetAbs 三类接口', '新增功能只需替换对应模块，不影响主流程'], foot: '目的：任何一个模块都能单独验证与替换。' },&#10;      { n: '02', t: '编译质量与健壮性', items: ['Keil 完整工程 rebuild，稳定 0 Error 0 Warning', '所有忙等循环配超时上限，硬件无响应时不会卡死', '数组索引与计数器均有边界保护', '串口接收状态与 ADC 转换等待均做分支处理'], foot: '目的：不靠&quot;运气好&quot;，每条分支都有明确行为。' },&#10;      { n: '03', t: '版本管理与交付', items: ['Git 双分支：main 黄金基线 + wip 功能分支', '关键版本打 tag，随时可回到已知可用状态', '另存一份脱离 Git 的物理备份', '交付前按清单逐项检查，不靠记忆'], foot: '目的：任何一次改动都可追溯、可回退。' },&#10;    ].map((c, i) =&gt; (&#10;      &lt;Box key={i} style={{ flex: 1, flexDirection: 'column', gap: 12, padding: '22px 22px', background: '#FFFFFF', borderRadius: 10, boxShadow: '0 2px 14px rgba(0,0,0,0.06)', borderTop: '4px solid #2563EB' }}&gt;&#10;        &lt;Text style={{ fontSize: 38, fontWeight: 'bold', color: '#E2E8F0', lineHeight: 1, fontFamily: 'JetBrains Mono, monospace' }}&gt;{c.n}&lt;/Text&gt;&#10;        &lt;Text style={{ fontSize: 25, fontWeight: 'bold', color: '#0F172A', fontFamily: 'Source Han Sans CN, sans-serif' }}&gt;{c.t}&lt;/Text&gt;&#10;        &lt;Box style={{ flex: 1, flexDirection: 'column', gap: 10, marginTop: 4 }}&gt;&#10;          {c.items.map((it, j) =&gt; (&#10;            &lt;Box key={j} style={{ flexDirection: 'row', gap: 10, alignItems: 'flex-start' }}&gt;&#10;              &lt;Box style={{ width: 6, height: 6, borderRadius: 3, background: '#2563EB', marginTop: 8 }} /&gt;&#10;              &lt;Text style={{ flex: 1, fontSize: 16, color: '#334155', lineHeight: 1.5, fontFamily: 'Source Han Sans CN, sans-serif' }}&gt;{it}&lt;/Text&gt;&#10;            &lt;/Box&gt;&#10;          ))}&#10;        &lt;/Box&gt;&#10;        &lt;Box style={{ height: 1, background: '#E2E8F0' }} /&gt;&#10;        &lt;Text style={{ fontSize: 15, color: '#64748B', lineHeight: 1.5, fontFamily: 'Source Han Sans CN, sans-serif' }}&gt;{c.foot}&lt;/Text&gt;&#10;      &lt;/Box&gt;&#10;    ))}&#10;  &lt;/Box&gt;&#10;  &lt;Box style={{ height: 40, flexDirection: 'row', justifyContent: 'space-between', alignItems: 'center' }}&gt;&#10;    &lt;Text style={{ fontSize: 14, color: '#64748B', fontFamily: 'JetBrains Mono, monospace' }}&gt;STM32 双模游戏手柄 · 成果展示&lt;/Text&gt;&#10;    &lt;Text style={{ fontSize: 14, color: '#64748B', fontFamily: 'JetBrains Mono, monospace' }}&gt;10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571500" y="361950"/>
            <a:ext cx="13716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Source Han Sans CN"/>
                <a:ea typeface="Source Han Sans CN"/>
              </a:rPr>
              <a:t>软件工程</a:t>
            </a:r>
            <a:endParaRPr/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10096500" y="476250"/>
            <a:ext cx="1524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Source Han Sans CN"/>
                <a:ea typeface="Source Han Sans CN"/>
              </a:rPr>
              <a:t>交付物可回溯、可验证</a:t>
            </a:r>
            <a:endParaRPr/>
          </a:p>
        </p:txBody>
      </p:sp>
      <p:sp>
        <p:nvSpPr>
          <p:cNvPr id="13" name="矩形: 圆角 12"/>
          <p:cNvSpPr/>
          <p:nvPr/>
        </p:nvSpPr>
        <p:spPr>
          <a:xfrm>
            <a:off x="571500" y="990600"/>
            <a:ext cx="3514725" cy="5334000"/>
          </a:xfrm>
          <a:prstGeom prst="roundRect">
            <a:avLst>
              <a:gd name="adj" fmla="val 2710"/>
            </a:avLst>
          </a:prstGeom>
          <a:solidFill>
            <a:srgbClr val="FFFFFF"/>
          </a:solidFill>
          <a:ln/>
          <a:effectLst>
            <a:outerShdw blurRad="13335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任意多边形: 形状 13"/>
          <p:cNvSpPr/>
          <p:nvPr/>
        </p:nvSpPr>
        <p:spPr>
          <a:xfrm>
            <a:off x="571500" y="990600"/>
            <a:ext cx="3514725" cy="5334000"/>
          </a:xfrm>
          <a:custGeom>
            <a:avLst/>
            <a:gdLst/>
            <a:ahLst/>
            <a:cxnLst/>
            <a:rect l="0" t="0" r="0" b="0"/>
            <a:pathLst>
              <a:path w="369" h="560">
                <a:moveTo>
                  <a:pt x="359" y="0"/>
                </a:moveTo>
                <a:cubicBezTo>
                  <a:pt x="364" y="0"/>
                  <a:pt x="368" y="4"/>
                  <a:pt x="369" y="8"/>
                </a:cubicBezTo>
                <a:cubicBezTo>
                  <a:pt x="368" y="6"/>
                  <a:pt x="366" y="4"/>
                  <a:pt x="363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781050" y="1200150"/>
            <a:ext cx="3095625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E2E8F0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781050" y="1752600"/>
            <a:ext cx="309562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F172A"/>
                </a:solidFill>
                <a:latin typeface="Source Han Sans CN"/>
                <a:ea typeface="Source Han Sans CN"/>
              </a:rPr>
              <a:t>代码规模与模块化</a:t>
            </a:r>
            <a:endParaRPr/>
          </a:p>
        </p:txBody>
      </p:sp>
      <p:sp>
        <p:nvSpPr>
          <p:cNvPr id="17" name="矩形: 圆角 16"/>
          <p:cNvSpPr/>
          <p:nvPr/>
        </p:nvSpPr>
        <p:spPr>
          <a:xfrm>
            <a:off x="781050" y="2266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933450" y="2190750"/>
            <a:ext cx="29432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Code≈19 KB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，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8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个模块职责单一，不跨层调用</a:t>
            </a:r>
            <a:endParaRPr/>
          </a:p>
        </p:txBody>
      </p:sp>
      <p:sp>
        <p:nvSpPr>
          <p:cNvPr id="19" name="矩形: 圆角 18"/>
          <p:cNvSpPr/>
          <p:nvPr/>
        </p:nvSpPr>
        <p:spPr>
          <a:xfrm>
            <a:off x="781050" y="2914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933450" y="2838450"/>
            <a:ext cx="29432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main.c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只做调度，硬件细节全部收在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HARDWARE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层</a:t>
            </a:r>
            <a:endParaRPr/>
          </a:p>
        </p:txBody>
      </p:sp>
      <p:sp>
        <p:nvSpPr>
          <p:cNvPr id="21" name="矩形: 圆角 20"/>
          <p:cNvSpPr/>
          <p:nvPr/>
        </p:nvSpPr>
        <p:spPr>
          <a:xfrm>
            <a:off x="781050" y="35623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933450" y="3486150"/>
            <a:ext cx="29432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对外统一暴露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GetNorm / GetRaw / GetAbs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三类接口</a:t>
            </a:r>
            <a:endParaRPr/>
          </a:p>
        </p:txBody>
      </p:sp>
      <p:sp>
        <p:nvSpPr>
          <p:cNvPr id="23" name="矩形: 圆角 22"/>
          <p:cNvSpPr/>
          <p:nvPr/>
        </p:nvSpPr>
        <p:spPr>
          <a:xfrm>
            <a:off x="781050" y="42100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933450" y="4133850"/>
            <a:ext cx="29432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新增功能只需替换对应模块，不影响主流程</a:t>
            </a:r>
            <a:endParaRPr/>
          </a:p>
        </p:txBody>
      </p:sp>
      <p:sp>
        <p:nvSpPr>
          <p:cNvPr id="25" name="矩形 24"/>
          <p:cNvSpPr/>
          <p:nvPr/>
        </p:nvSpPr>
        <p:spPr>
          <a:xfrm>
            <a:off x="781050" y="5695950"/>
            <a:ext cx="309562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781050" y="5819775"/>
            <a:ext cx="3095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CN"/>
                <a:ea typeface="Source Han Sans CN"/>
              </a:rPr>
              <a:t>目的：任何一个模块都能单独验证与替换。</a:t>
            </a:r>
            <a:endParaRPr/>
          </a:p>
        </p:txBody>
      </p:sp>
      <p:sp>
        <p:nvSpPr>
          <p:cNvPr id="27" name="矩形: 圆角 26"/>
          <p:cNvSpPr/>
          <p:nvPr/>
        </p:nvSpPr>
        <p:spPr>
          <a:xfrm>
            <a:off x="4333875" y="990600"/>
            <a:ext cx="3524250" cy="53340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3335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任意多边形: 形状 27"/>
          <p:cNvSpPr/>
          <p:nvPr/>
        </p:nvSpPr>
        <p:spPr>
          <a:xfrm>
            <a:off x="4333875" y="990600"/>
            <a:ext cx="3524250" cy="5334000"/>
          </a:xfrm>
          <a:custGeom>
            <a:avLst/>
            <a:gdLst/>
            <a:ahLst/>
            <a:cxnLst/>
            <a:rect l="0" t="0" r="0" b="0"/>
            <a:pathLst>
              <a:path w="370" h="560">
                <a:moveTo>
                  <a:pt x="360" y="0"/>
                </a:moveTo>
                <a:cubicBezTo>
                  <a:pt x="365" y="0"/>
                  <a:pt x="369" y="4"/>
                  <a:pt x="370" y="8"/>
                </a:cubicBezTo>
                <a:cubicBezTo>
                  <a:pt x="369" y="6"/>
                  <a:pt x="367" y="4"/>
                  <a:pt x="36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0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4543425" y="1200150"/>
            <a:ext cx="310515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E2E8F0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4543425" y="1752600"/>
            <a:ext cx="31051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F172A"/>
                </a:solidFill>
                <a:latin typeface="Source Han Sans CN"/>
                <a:ea typeface="Source Han Sans CN"/>
              </a:rPr>
              <a:t>编译质量与健壮性</a:t>
            </a:r>
            <a:endParaRPr/>
          </a:p>
        </p:txBody>
      </p:sp>
      <p:sp>
        <p:nvSpPr>
          <p:cNvPr id="31" name="矩形: 圆角 30"/>
          <p:cNvSpPr/>
          <p:nvPr/>
        </p:nvSpPr>
        <p:spPr>
          <a:xfrm>
            <a:off x="4543425" y="2266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4695825" y="2190750"/>
            <a:ext cx="29527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Keil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完整工程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rebuild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，稳定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0 Error 0 Warning</a:t>
            </a:r>
            <a:endParaRPr/>
          </a:p>
        </p:txBody>
      </p:sp>
      <p:sp>
        <p:nvSpPr>
          <p:cNvPr id="33" name="矩形: 圆角 32"/>
          <p:cNvSpPr/>
          <p:nvPr/>
        </p:nvSpPr>
        <p:spPr>
          <a:xfrm>
            <a:off x="4543425" y="2914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4695825" y="2838450"/>
            <a:ext cx="29527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所有忙等循环配超时上限，硬件无响应时不会卡死</a:t>
            </a:r>
            <a:endParaRPr/>
          </a:p>
        </p:txBody>
      </p:sp>
      <p:sp>
        <p:nvSpPr>
          <p:cNvPr id="35" name="矩形: 圆角 34"/>
          <p:cNvSpPr/>
          <p:nvPr/>
        </p:nvSpPr>
        <p:spPr>
          <a:xfrm>
            <a:off x="4543425" y="35623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4695825" y="3486150"/>
            <a:ext cx="2952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数组索引与计数器均有边界保护</a:t>
            </a:r>
            <a:endParaRPr/>
          </a:p>
        </p:txBody>
      </p:sp>
      <p:sp>
        <p:nvSpPr>
          <p:cNvPr id="37" name="矩形: 圆角 36"/>
          <p:cNvSpPr/>
          <p:nvPr/>
        </p:nvSpPr>
        <p:spPr>
          <a:xfrm>
            <a:off x="4543425" y="39338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4695825" y="3857625"/>
            <a:ext cx="29527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串口接收状态与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ADC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转换等待均做分支处理</a:t>
            </a:r>
            <a:endParaRPr/>
          </a:p>
        </p:txBody>
      </p:sp>
      <p:sp>
        <p:nvSpPr>
          <p:cNvPr id="39" name="矩形 38"/>
          <p:cNvSpPr/>
          <p:nvPr/>
        </p:nvSpPr>
        <p:spPr>
          <a:xfrm>
            <a:off x="4543425" y="5695950"/>
            <a:ext cx="31051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4543425" y="5819775"/>
            <a:ext cx="31051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CN"/>
                <a:ea typeface="Source Han Sans CN"/>
              </a:rPr>
              <a:t>目的：不靠</a:t>
            </a:r>
            <a:r>
              <a:rPr lang="en-US" sz="1125">
                <a:solidFill>
                  <a:srgbClr val="64748B"/>
                </a:solidFill>
                <a:latin typeface="Source Han Sans CN"/>
                <a:ea typeface="Source Han Sans CN"/>
              </a:rPr>
              <a:t>"</a:t>
            </a:r>
            <a:r>
              <a:rPr lang="zh-CN" sz="1125">
                <a:solidFill>
                  <a:srgbClr val="64748B"/>
                </a:solidFill>
                <a:latin typeface="Source Han Sans CN"/>
                <a:ea typeface="Source Han Sans CN"/>
              </a:rPr>
              <a:t>运气好</a:t>
            </a:r>
            <a:r>
              <a:rPr lang="en-US" sz="1125">
                <a:solidFill>
                  <a:srgbClr val="64748B"/>
                </a:solidFill>
                <a:latin typeface="Source Han Sans CN"/>
                <a:ea typeface="Source Han Sans CN"/>
              </a:rPr>
              <a:t>"</a:t>
            </a:r>
            <a:r>
              <a:rPr lang="zh-CN" sz="1125">
                <a:solidFill>
                  <a:srgbClr val="64748B"/>
                </a:solidFill>
                <a:latin typeface="Source Han Sans CN"/>
                <a:ea typeface="Source Han Sans CN"/>
              </a:rPr>
              <a:t>，每条分支都有明确行为。</a:t>
            </a:r>
            <a:endParaRPr/>
          </a:p>
        </p:txBody>
      </p:sp>
      <p:sp>
        <p:nvSpPr>
          <p:cNvPr id="41" name="矩形: 圆角 40"/>
          <p:cNvSpPr/>
          <p:nvPr/>
        </p:nvSpPr>
        <p:spPr>
          <a:xfrm>
            <a:off x="8105775" y="990600"/>
            <a:ext cx="3514725" cy="5334000"/>
          </a:xfrm>
          <a:prstGeom prst="roundRect">
            <a:avLst>
              <a:gd name="adj" fmla="val 2710"/>
            </a:avLst>
          </a:prstGeom>
          <a:solidFill>
            <a:srgbClr val="FFFFFF"/>
          </a:solidFill>
          <a:ln/>
          <a:effectLst>
            <a:outerShdw blurRad="13335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任意多边形: 形状 41"/>
          <p:cNvSpPr/>
          <p:nvPr/>
        </p:nvSpPr>
        <p:spPr>
          <a:xfrm>
            <a:off x="8105775" y="990600"/>
            <a:ext cx="3514725" cy="5334000"/>
          </a:xfrm>
          <a:custGeom>
            <a:avLst/>
            <a:gdLst/>
            <a:ahLst/>
            <a:cxnLst/>
            <a:rect l="0" t="0" r="0" b="0"/>
            <a:pathLst>
              <a:path w="369" h="560">
                <a:moveTo>
                  <a:pt x="359" y="0"/>
                </a:moveTo>
                <a:cubicBezTo>
                  <a:pt x="364" y="0"/>
                  <a:pt x="368" y="4"/>
                  <a:pt x="369" y="8"/>
                </a:cubicBezTo>
                <a:cubicBezTo>
                  <a:pt x="368" y="6"/>
                  <a:pt x="366" y="4"/>
                  <a:pt x="363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8315325" y="1200150"/>
            <a:ext cx="3095625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E2E8F0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8315325" y="1752600"/>
            <a:ext cx="309562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F172A"/>
                </a:solidFill>
                <a:latin typeface="Source Han Sans CN"/>
                <a:ea typeface="Source Han Sans CN"/>
              </a:rPr>
              <a:t>版本管理与交付</a:t>
            </a:r>
            <a:endParaRPr/>
          </a:p>
        </p:txBody>
      </p:sp>
      <p:sp>
        <p:nvSpPr>
          <p:cNvPr id="45" name="矩形: 圆角 44"/>
          <p:cNvSpPr/>
          <p:nvPr/>
        </p:nvSpPr>
        <p:spPr>
          <a:xfrm>
            <a:off x="8315325" y="2266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8467725" y="2190750"/>
            <a:ext cx="29432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Git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双分支：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main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黄金基线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+ wip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功能分支</a:t>
            </a:r>
            <a:endParaRPr/>
          </a:p>
        </p:txBody>
      </p:sp>
      <p:sp>
        <p:nvSpPr>
          <p:cNvPr id="47" name="矩形: 圆角 46"/>
          <p:cNvSpPr/>
          <p:nvPr/>
        </p:nvSpPr>
        <p:spPr>
          <a:xfrm>
            <a:off x="8315325" y="2638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8467725" y="2562225"/>
            <a:ext cx="29432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关键版本打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tag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，随时可回到已知可用状态</a:t>
            </a:r>
            <a:endParaRPr/>
          </a:p>
        </p:txBody>
      </p:sp>
      <p:sp>
        <p:nvSpPr>
          <p:cNvPr id="49" name="矩形: 圆角 48"/>
          <p:cNvSpPr/>
          <p:nvPr/>
        </p:nvSpPr>
        <p:spPr>
          <a:xfrm>
            <a:off x="8315325" y="30099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8467725" y="2933700"/>
            <a:ext cx="29432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另存一份脱离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Git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的物理备份</a:t>
            </a:r>
            <a:endParaRPr/>
          </a:p>
        </p:txBody>
      </p:sp>
      <p:sp>
        <p:nvSpPr>
          <p:cNvPr id="51" name="矩形: 圆角 50"/>
          <p:cNvSpPr/>
          <p:nvPr/>
        </p:nvSpPr>
        <p:spPr>
          <a:xfrm>
            <a:off x="8315325" y="33813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8467725" y="3305175"/>
            <a:ext cx="29432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交付前按清单逐项检查，不靠记忆</a:t>
            </a:r>
            <a:endParaRPr/>
          </a:p>
        </p:txBody>
      </p:sp>
      <p:sp>
        <p:nvSpPr>
          <p:cNvPr id="53" name="矩形 52"/>
          <p:cNvSpPr/>
          <p:nvPr/>
        </p:nvSpPr>
        <p:spPr>
          <a:xfrm>
            <a:off x="8315325" y="5695950"/>
            <a:ext cx="309562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8315325" y="5819775"/>
            <a:ext cx="3095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CN"/>
                <a:ea typeface="Source Han Sans CN"/>
              </a:rPr>
              <a:t>目的：任何一次改动都可追溯、可回退。</a:t>
            </a:r>
            <a:endParaRPr/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571500" y="6400800"/>
            <a:ext cx="2057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STM32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双模游戏手柄</a:t>
            </a: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 ·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成果展示</a:t>
            </a:r>
            <a:endParaRPr/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11058525" y="64008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16 / 16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20px 60px', background: '#F8FAFC', flexDirection: 'column' }}&gt;&#10;  &lt;Box style={{ height: 80, justifyContent: 'flex-start', alignItems: 'center' }}&gt;&#10;    &lt;Text style={{ fontSize: 36, fontWeight: 'bold', color: '#0F172A', fontFamily: 'Source Han Sans CN, sans-serif' }}&gt;能干什么：三种用法&lt;/Text&gt;&#10;  &lt;/Box&gt;&#10;  &lt;Box style={{ height: 560, flexDirection: 'row', gap: 40, alignItems: 'stretch' }}&gt;&#10;    &lt;Box style={{ width: 740, justifyContent: 'center', alignItems: 'center' }}&gt;&#10;      &lt;svg width='740' height='500' viewBox='0 0 740 500'&gt;&#10;        {[&#10;          { y: 20, n: '1', t: 'PC 游戏', c: '#2563EB', l1: 'USB 直连 · 游戏模式', l2: '8 字节 HID 报告 · 100Hz · 免驱', l3: 'Steam 与主流游戏识别为标准手柄' },&#10;          { y: 180, n: '2', t: '遥控小车', c: '#16A34A', l1: '蓝牙串口 · 蓝牙模式', l2: 'CSV 文本帧 · 摇杆 50Hz + 按键边沿', l3: 'STM32 接收端按逗号切分即可取值' },&#10;          { y: 340, n: '3', t: '数据分析', c: '#F59E0B', l1: '串口助手 · 任意模式', l2: 'J / KEY / RAW 三类帧可读', l3: '原始值每 0.5 秒一帧，直接画曲线' },&#10;        ].map((s, i) =&gt; (&#10;          &lt;g key={i}&gt;&#10;            &lt;rect x='20' y={s.y} width='700' height='140' rx='10' fill='#FFFFFF' stroke='#E2E8F0' strokeWidth='2' /&gt;&#10;            &lt;rect x='20' y={s.y} width='8' height='140' fill={s.c} /&gt;&#10;            &lt;circle cx='76' cy={s.y + 70} r='26' fill={s.c} /&gt;&#10;            &lt;text x='76' y={s.y + 80} textAnchor='middle' fill='#FFFFFF' fontSize='20' fontFamily='JetBrains Mono, monospace' fontWeight='bold'&gt;{s.n}&lt;/text&gt;&#10;            &lt;text x='124' y={s.y + 42} fill='#0F172A' fontSize='22' fontFamily='Source Han Sans CN, sans-serif' fontWeight='bold'&gt;{s.t}&lt;/text&gt;&#10;            &lt;text x='124' y={s.y + 74} fill={s.c} fontSize='15' fontFamily='JetBrains Mono, monospace' fontWeight='bold'&gt;{s.l1}&lt;/text&gt;&#10;            &lt;text x='124' y={s.y + 102} fill='#334155' fontSize='14' fontFamily='Source Han Sans CN, sans-serif'&gt;{s.l2}&lt;/text&gt;&#10;            &lt;text x='124' y={s.y + 124} fill='#64748B' fontSize='13' fontFamily='Source Han Sans CN, sans-serif'&gt;{s.l3}&lt;/text&gt;&#10;          &lt;/g&gt;&#10;        ))}&#10;      &lt;/svg&gt;&#10;    &lt;/Box&gt;&#10;    &lt;Box style={{ flex: 1, flexDirection: 'column', gap: 18, justifyContent: 'center' }}&gt;&#10;      &lt;Text style={{ fontSize: 21, color: '#334155', lineHeight: 1.6, fontFamily: 'Source Han Sans CN, sans-serif' }}&gt;&#10;        同一块板子，切换工作模式即可服务三种完全不同的下游设备，不需要改固件、不需要重新烧录。&#10;      &lt;/Text&gt;&#10;      &lt;Box style={{ padding: 18, background: '#FFFFFF', borderRadius: 8, borderLeft: '4px solid #2563EB', boxShadow: '0 2px 12px rgba(0,0,0,0.06)' }}&gt;&#10;        &lt;Text style={{ fontSize: 19, fontWeight: 'bold', color: '#0F172A', marginBottom: 6, fontFamily: 'Source Han Sans CN, sans-serif' }}&gt;一键切换&lt;/Text&gt;&#10;        &lt;Text style={{ fontSize: 17, color: '#334155', lineHeight: 1.5, fontFamily: 'Source Han Sans CN, sans-serif' }}&gt;&#10;          View 键在游戏模式与蓝牙模式之间切换，模式状态写入 Flash，掉电后保持。&#10;        &lt;/Text&gt;&#10;      &lt;/Box&gt;&#10;      &lt;Box style={{ padding: 18, background: '#0F172A', borderRadius: 8 }}&gt;&#10;        &lt;Text style={{ fontSize: 18, color: '#FFFFFF', lineHeight: 1.55, fontFamily: 'Source Han Sans CN, sans-serif' }}&gt;&#10;          &lt;span style={{ color: '#38BDF8', fontWeight: 'bold' }}&gt;一句话：&lt;/span&gt;输入端是同一套摇杆与按键，输出端按对端是谁选择最合适的协议。&#10;        &lt;/Text&gt;&#10;      &lt;/Box&gt;&#10;    &lt;/Box&gt;&#10;  &lt;/Box&gt;&#10;  &lt;Box style={{ height: 40, flexDirection: 'row', justifyContent: 'space-between', alignItems: 'center' }}&gt;&#10;    &lt;Text style={{ fontSize: 14, color: '#64748B', fontFamily: 'JetBrains Mono, monospace' }}&gt;STM32 双模游戏手柄 · 成果展示&lt;/Text&gt;&#10;    &lt;Text style={{ fontSize: 14, color: '#64748B', fontFamily: 'JetBrains Mono, monospace' }}&gt;11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4552950" y="190500"/>
            <a:ext cx="30861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Source Han Sans CN"/>
                <a:ea typeface="Source Han Sans CN"/>
              </a:rPr>
              <a:t>能干什么：三种用法</a:t>
            </a:r>
            <a:endParaRPr/>
          </a:p>
        </p:txBody>
      </p:sp>
      <p:pic>
        <p:nvPicPr>
          <p:cNvPr id="60" name="图形 5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1238250"/>
            <a:ext cx="7048500" cy="4762500"/>
          </a:xfrm>
          <a:prstGeom prst="rect">
            <a:avLst/>
          </a:prstGeom>
          <a:ln/>
        </p:spPr>
      </p:pic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8001000" y="1781175"/>
            <a:ext cx="3619500" cy="1152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334155"/>
                </a:solidFill>
                <a:latin typeface="Source Han Sans CN"/>
                <a:ea typeface="Source Han Sans CN"/>
              </a:rPr>
              <a:t>同一块板子，切换工作模式即可服务三种完全不同的下游设备，不需要改固件、不需要重新烧录。</a:t>
            </a:r>
            <a:endParaRPr/>
          </a:p>
        </p:txBody>
      </p:sp>
      <p:sp>
        <p:nvSpPr>
          <p:cNvPr id="62" name="矩形: 圆角 61"/>
          <p:cNvSpPr/>
          <p:nvPr/>
        </p:nvSpPr>
        <p:spPr>
          <a:xfrm>
            <a:off x="8039100" y="3105150"/>
            <a:ext cx="361950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3" name="任意多边形: 形状 62"/>
          <p:cNvSpPr/>
          <p:nvPr/>
        </p:nvSpPr>
        <p:spPr>
          <a:xfrm>
            <a:off x="8039100" y="3105150"/>
            <a:ext cx="3619500" cy="1209675"/>
          </a:xfrm>
          <a:custGeom>
            <a:avLst/>
            <a:gdLst/>
            <a:ahLst/>
            <a:cxnLst/>
            <a:rect l="0" t="0" r="0" b="0"/>
            <a:pathLst>
              <a:path w="380" h="12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23"/>
                </a:lnTo>
                <a:cubicBezTo>
                  <a:pt x="4" y="125"/>
                  <a:pt x="5" y="127"/>
                  <a:pt x="7" y="127"/>
                </a:cubicBezTo>
                <a:cubicBezTo>
                  <a:pt x="3" y="127"/>
                  <a:pt x="0" y="123"/>
                  <a:pt x="0" y="11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8210550" y="3276600"/>
            <a:ext cx="3238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Source Han Sans CN"/>
                <a:ea typeface="Source Han Sans CN"/>
              </a:rPr>
              <a:t>一键切换</a:t>
            </a:r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8210550" y="3552825"/>
            <a:ext cx="32385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View 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键在游戏模式与蓝牙模式之间切换，模式状态写入</a:t>
            </a:r>
            <a:r>
              <a:rPr lang="en-US" sz="1275">
                <a:solidFill>
                  <a:srgbClr val="334155"/>
                </a:solidFill>
                <a:latin typeface="Source Han Sans CN"/>
                <a:ea typeface="Source Han Sans CN"/>
              </a:rPr>
              <a:t> Flash</a:t>
            </a:r>
            <a:r>
              <a:rPr lang="zh-CN" sz="1275">
                <a:solidFill>
                  <a:srgbClr val="334155"/>
                </a:solidFill>
                <a:latin typeface="Source Han Sans CN"/>
                <a:ea typeface="Source Han Sans CN"/>
              </a:rPr>
              <a:t>，掉电后保持。</a:t>
            </a:r>
            <a:endParaRPr/>
          </a:p>
        </p:txBody>
      </p:sp>
      <p:sp>
        <p:nvSpPr>
          <p:cNvPr id="66" name="矩形: 圆角 65"/>
          <p:cNvSpPr/>
          <p:nvPr/>
        </p:nvSpPr>
        <p:spPr>
          <a:xfrm>
            <a:off x="8001000" y="4486275"/>
            <a:ext cx="3619500" cy="981075"/>
          </a:xfrm>
          <a:prstGeom prst="roundRect">
            <a:avLst>
              <a:gd name="adj" fmla="val 776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8172450" y="4657725"/>
            <a:ext cx="32766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38BDF8"/>
                </a:solidFill>
                <a:latin typeface="Source Han Sans CN"/>
                <a:ea typeface="Source Han Sans CN"/>
              </a:rPr>
              <a:t>一句话：</a:t>
            </a:r>
            <a:r>
              <a:rPr lang="zh-CN" sz="1350">
                <a:solidFill>
                  <a:srgbClr val="FFFFFF"/>
                </a:solidFill>
                <a:latin typeface="Source Han Sans CN"/>
                <a:ea typeface="Source Han Sans CN"/>
              </a:rPr>
              <a:t>输入端是同一套摇杆与按键，输出端按对端是谁选择最合适的协议。</a:t>
            </a:r>
            <a:endParaRPr/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571500" y="6400800"/>
            <a:ext cx="2057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STM32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双模游戏手柄</a:t>
            </a: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 ·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成果展示</a:t>
            </a:r>
            <a:endParaRPr/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11058525" y="64008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11 / 13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20px 60px', background: '#F8FAFC', flexDirection: 'column' }}&gt;&#10;  &lt;Box style={{ height: 80, justifyContent: 'flex-start', alignItems: 'center' }}&gt;&#10;    &lt;Text style={{ fontSize: 36, fontWeight: 'bold', color: '#0F172A', fontFamily: 'Source Han Sans CN, sans-serif' }}&gt;技术参数&lt;/Text&gt;&#10;  &lt;/Box&gt;&#10;  &lt;Box style={{ height: 560, flexDirection: 'row', gap: 40, alignItems: 'stretch' }}&gt;&#10;    &lt;Box style={{ width: 300, flexDirection: 'column', gap: 18, justifyContent: 'center' }}&gt;&#10;      &lt;Text style={{ fontSize: 21, color: '#334155', lineHeight: 1.6, fontFamily: 'Source Han Sans CN, sans-serif' }}&gt;&#10;        全部参数均为实际实现值，可在菜单中查看或调整，关键配置断电保持。&#10;      &lt;/Text&gt;&#10;      &lt;Image src=&quot;assets/pcba_3d.png&quot; style={{ width: '260px', height: '146px', objectFit: 'cover', borderRadius: 8 }} /&gt;&#10;      &lt;Box style={{ padding: 16, background: '#0F172A', borderRadius: 8 }}&gt;&#10;        &lt;Text style={{ fontSize: 17, color: '#FFFFFF', lineHeight: 1.5, fontFamily: 'Source Han Sans CN, sans-serif' }}&gt;&#10;          &lt;span style={{ color: '#38BDF8', fontWeight: 'bold' }}&gt;工作电压 5V&lt;/span&gt;（USB 或外接），板载 3.3V 稳压供 MCU 与 OLED。&#10;        &lt;/Text&gt;&#10;      &lt;/Box&gt;&#10;    &lt;/Box&gt;&#10;    &lt;Box style={{ flex: 1, flexDirection: 'column', gap: 14, justifyContent: 'center' }}&gt;&#10;      {[&#10;        { g: '主控与存储', items: [&#10;          { k: 'MCU', v: 'STM32F103C8T6 · Cortex-M3' },&#10;          { k: '主频', v: '72 MHz（HSE 8M × 9 倍频）' },&#10;          { k: '存储', v: '64 KB Flash / 20 KB RAM · 配置存于 0x0800FC00' },&#10;        ] },&#10;        { g: '输入与输出', items: [&#10;          { k: '采集', v: '6 路 ADC（4 轴摇杆 + LT/RT 扳机）+ 15 个按键' },&#10;          { k: '显示', v: '0.96&quot; OLED 128×64 · 软件 I2C PB12 / PB13' },&#10;          { k: '指示', v: 'WS2812B ×3 氛围灯 · DIN 接 PA8' },&#10;        ] },&#10;        { g: '通信与固件', items: [&#10;          { k: 'USB', v: 'HID 8 字节报告 · 100 Hz · 免驱即插即用' },&#10;          { k: '蓝牙', v: 'HC-05 · UART1 115200 · CSV 文本帧' },&#10;          { k: '固件', v: 'C 语言 · 标准外设库 · Code≈19 KB · 0 Error 0 Warning' },&#10;        ] },&#10;      ].map((grp, i) =&gt; (&#10;        &lt;Box key={i} style={{ flexDirection: 'column', gap: 6 }}&gt;&#10;          &lt;Box style={{ flexDirection: 'row', alignItems: 'center', gap: 10 }}&gt;&#10;            &lt;Box style={{ width: 4, height: 16, background: '#2563EB' }} /&gt;&#10;            &lt;Text style={{ fontSize: 19, fontWeight: 'bold', color: '#0F172A', fontFamily: 'Source Han Sans CN, sans-serif' }}&gt;{grp.g}&lt;/Text&gt;&#10;          &lt;/Box&gt;&#10;          {grp.items.map((r, j) =&gt; (&#10;            &lt;Box key={j} style={{ flexDirection: 'row', gap: 14, padding: '8px 18px', background: '#FFFFFF', borderRadius: 6, boxShadow: '0 1px 6px rgba(0,0,0,0.04)', alignItems: 'flex-start' }}&gt;&#10;              &lt;Text style={{ width: 56, fontSize: 16, fontWeight: 'bold', color: '#2563EB', fontFamily: 'Source Han Sans CN, sans-serif' }}&gt;{r.k}&lt;/Text&gt;&#10;              &lt;Text style={{ flex: 1, fontSize: 16, color: '#334155', lineHeight: 1.45, fontFamily: 'Source Han Sans CN, sans-serif' }}&gt;{r.v}&lt;/Text&gt;&#10;            &lt;/Box&gt;&#10;          ))}&#10;        &lt;/Box&gt;&#10;      ))}&#10;    &lt;/Box&gt;&#10;  &lt;/Box&gt;&#10;  &lt;Box style={{ height: 40, flexDirection: 'row', justifyContent: 'space-between', alignItems: 'center' }}&gt;&#10;    &lt;Text style={{ fontSize: 14, color: '#64748B', fontFamily: 'JetBrains Mono, monospace' }}&gt;STM32 双模游戏手柄 · 成果展示&lt;/Text&gt;&#10;    &lt;Text style={{ fontSize: 14, color: '#64748B', fontFamily: 'JetBrains Mono, monospace' }}&gt;12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5410200" y="190500"/>
            <a:ext cx="13716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Source Han Sans CN"/>
                <a:ea typeface="Source Han Sans CN"/>
              </a:rPr>
              <a:t>技术参数</a:t>
            </a:r>
            <a:endParaRPr/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571500" y="1733550"/>
            <a:ext cx="2857500" cy="1152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334155"/>
                </a:solidFill>
                <a:latin typeface="Source Han Sans CN"/>
                <a:ea typeface="Source Han Sans CN"/>
              </a:rPr>
              <a:t>全部参数均为实际实现值，可在菜单中查看或调整，关键配置断电保持。</a:t>
            </a:r>
            <a:endParaRPr/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rcRect t="9105" b="9105"/>
          <a:stretch>
            <a:fillRect/>
          </a:stretch>
        </p:blipFill>
        <p:spPr>
          <a:xfrm>
            <a:off x="571500" y="3057525"/>
            <a:ext cx="2476500" cy="1390650"/>
          </a:xfrm>
          <a:prstGeom prst="roundRect">
            <a:avLst>
              <a:gd name="adj" fmla="val 5479"/>
            </a:avLst>
          </a:prstGeom>
          <a:ln/>
        </p:spPr>
      </p:pic>
      <p:sp>
        <p:nvSpPr>
          <p:cNvPr id="75" name="矩形: 圆角 74"/>
          <p:cNvSpPr/>
          <p:nvPr/>
        </p:nvSpPr>
        <p:spPr>
          <a:xfrm>
            <a:off x="571500" y="4619625"/>
            <a:ext cx="2857500" cy="895350"/>
          </a:xfrm>
          <a:prstGeom prst="roundRect">
            <a:avLst>
              <a:gd name="adj" fmla="val 8511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723900" y="4772025"/>
            <a:ext cx="25527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38BDF8"/>
                </a:solidFill>
                <a:latin typeface="Source Han Sans CN"/>
                <a:ea typeface="Source Han Sans CN"/>
              </a:rPr>
              <a:t>工作电压</a:t>
            </a:r>
            <a:r>
              <a:rPr lang="en-US" sz="1275" b="1">
                <a:solidFill>
                  <a:srgbClr val="38BDF8"/>
                </a:solidFill>
                <a:latin typeface="Source Han Sans CN"/>
                <a:ea typeface="Source Han Sans CN"/>
              </a:rPr>
              <a:t> 5V</a:t>
            </a:r>
            <a:r>
              <a:rPr lang="zh-CN" sz="1275">
                <a:solidFill>
                  <a:srgbClr val="FFFFFF"/>
                </a:solidFill>
                <a:latin typeface="Source Han Sans CN"/>
                <a:ea typeface="Source Han Sans CN"/>
              </a:rPr>
              <a:t>（</a:t>
            </a:r>
            <a:r>
              <a:rPr lang="en-US" sz="1275">
                <a:solidFill>
                  <a:srgbClr val="FFFFFF"/>
                </a:solidFill>
                <a:latin typeface="Source Han Sans CN"/>
                <a:ea typeface="Source Han Sans CN"/>
              </a:rPr>
              <a:t>USB </a:t>
            </a:r>
            <a:r>
              <a:rPr lang="zh-CN" sz="1275">
                <a:solidFill>
                  <a:srgbClr val="FFFFFF"/>
                </a:solidFill>
                <a:latin typeface="Source Han Sans CN"/>
                <a:ea typeface="Source Han Sans CN"/>
              </a:rPr>
              <a:t>或外接），板载</a:t>
            </a:r>
            <a:r>
              <a:rPr lang="en-US" sz="1275">
                <a:solidFill>
                  <a:srgbClr val="FFFFFF"/>
                </a:solidFill>
                <a:latin typeface="Source Han Sans CN"/>
                <a:ea typeface="Source Han Sans CN"/>
              </a:rPr>
              <a:t> 3.3V </a:t>
            </a:r>
            <a:r>
              <a:rPr lang="zh-CN" sz="1275">
                <a:solidFill>
                  <a:srgbClr val="FFFFFF"/>
                </a:solidFill>
                <a:latin typeface="Source Han Sans CN"/>
                <a:ea typeface="Source Han Sans CN"/>
              </a:rPr>
              <a:t>稳压供</a:t>
            </a:r>
            <a:r>
              <a:rPr lang="en-US" sz="1275">
                <a:solidFill>
                  <a:srgbClr val="FFFFFF"/>
                </a:solidFill>
                <a:latin typeface="Source Han Sans CN"/>
                <a:ea typeface="Source Han Sans CN"/>
              </a:rPr>
              <a:t> MCU </a:t>
            </a:r>
            <a:r>
              <a:rPr lang="zh-CN" sz="1275">
                <a:solidFill>
                  <a:srgbClr val="FFFFFF"/>
                </a:solidFill>
                <a:latin typeface="Source Han Sans CN"/>
                <a:ea typeface="Source Han Sans CN"/>
              </a:rPr>
              <a:t>与</a:t>
            </a:r>
            <a:r>
              <a:rPr lang="en-US" sz="1275">
                <a:solidFill>
                  <a:srgbClr val="FFFFFF"/>
                </a:solidFill>
                <a:latin typeface="Source Han Sans CN"/>
                <a:ea typeface="Source Han Sans CN"/>
              </a:rPr>
              <a:t> OLED</a:t>
            </a:r>
            <a:r>
              <a:rPr lang="zh-CN" sz="1275">
                <a:solidFill>
                  <a:srgbClr val="FFFFFF"/>
                </a:solidFill>
                <a:latin typeface="Source Han Sans CN"/>
                <a:ea typeface="Source Han Sans CN"/>
              </a:rPr>
              <a:t>。</a:t>
            </a:r>
            <a:endParaRPr/>
          </a:p>
        </p:txBody>
      </p:sp>
      <p:sp>
        <p:nvSpPr>
          <p:cNvPr id="77" name="矩形 76"/>
          <p:cNvSpPr/>
          <p:nvPr/>
        </p:nvSpPr>
        <p:spPr>
          <a:xfrm>
            <a:off x="3810000" y="1057275"/>
            <a:ext cx="38100" cy="152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3943350" y="1019175"/>
            <a:ext cx="9048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Source Han Sans CN"/>
                <a:ea typeface="Source Han Sans CN"/>
              </a:rPr>
              <a:t>主控与存储</a:t>
            </a:r>
            <a:endParaRPr/>
          </a:p>
        </p:txBody>
      </p:sp>
      <p:sp>
        <p:nvSpPr>
          <p:cNvPr id="79" name="矩形: 圆角 78"/>
          <p:cNvSpPr/>
          <p:nvPr/>
        </p:nvSpPr>
        <p:spPr>
          <a:xfrm>
            <a:off x="3810000" y="1295400"/>
            <a:ext cx="78105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7150" dist="9525" dir="540000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3981450" y="1371600"/>
            <a:ext cx="533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Source Han Sans CN"/>
                <a:ea typeface="Source Han Sans CN"/>
              </a:rPr>
              <a:t>MCU</a:t>
            </a:r>
            <a:endParaRPr/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4648200" y="1371600"/>
            <a:ext cx="68008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STM32F103C8T6 · Cortex-M3</a:t>
            </a:r>
            <a:endParaRPr/>
          </a:p>
        </p:txBody>
      </p:sp>
      <p:sp>
        <p:nvSpPr>
          <p:cNvPr id="82" name="矩形: 圆角 81"/>
          <p:cNvSpPr/>
          <p:nvPr/>
        </p:nvSpPr>
        <p:spPr>
          <a:xfrm>
            <a:off x="3810000" y="1771650"/>
            <a:ext cx="78105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7150" dist="9525" dir="540000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3981450" y="1847850"/>
            <a:ext cx="533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Source Han Sans CN"/>
                <a:ea typeface="Source Han Sans CN"/>
              </a:rPr>
              <a:t>主频</a:t>
            </a:r>
            <a:endParaRPr/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4648200" y="1847850"/>
            <a:ext cx="68008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72 MHz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（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HSE 8M × 9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倍频）</a:t>
            </a:r>
            <a:endParaRPr/>
          </a:p>
        </p:txBody>
      </p:sp>
      <p:sp>
        <p:nvSpPr>
          <p:cNvPr id="85" name="矩形: 圆角 84"/>
          <p:cNvSpPr/>
          <p:nvPr/>
        </p:nvSpPr>
        <p:spPr>
          <a:xfrm>
            <a:off x="3810000" y="2247900"/>
            <a:ext cx="78105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7150" dist="9525" dir="540000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3981450" y="2324100"/>
            <a:ext cx="533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Source Han Sans CN"/>
                <a:ea typeface="Source Han Sans CN"/>
              </a:rPr>
              <a:t>存储</a:t>
            </a:r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4648200" y="2324100"/>
            <a:ext cx="68008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64 KB Flash / 20 KB RAM ·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配置存于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0x0800FC00</a:t>
            </a:r>
            <a:endParaRPr/>
          </a:p>
        </p:txBody>
      </p:sp>
      <p:sp>
        <p:nvSpPr>
          <p:cNvPr id="88" name="矩形 87"/>
          <p:cNvSpPr/>
          <p:nvPr/>
        </p:nvSpPr>
        <p:spPr>
          <a:xfrm>
            <a:off x="3810000" y="2838450"/>
            <a:ext cx="38100" cy="152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3943350" y="2800350"/>
            <a:ext cx="9048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Source Han Sans CN"/>
                <a:ea typeface="Source Han Sans CN"/>
              </a:rPr>
              <a:t>输入与输出</a:t>
            </a:r>
            <a:endParaRPr/>
          </a:p>
        </p:txBody>
      </p:sp>
      <p:sp>
        <p:nvSpPr>
          <p:cNvPr id="90" name="矩形: 圆角 89"/>
          <p:cNvSpPr/>
          <p:nvPr/>
        </p:nvSpPr>
        <p:spPr>
          <a:xfrm>
            <a:off x="3810000" y="3076575"/>
            <a:ext cx="78105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7150" dist="9525" dir="540000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3981450" y="3152775"/>
            <a:ext cx="533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Source Han Sans CN"/>
                <a:ea typeface="Source Han Sans CN"/>
              </a:rPr>
              <a:t>采集</a:t>
            </a:r>
            <a:endParaRPr/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4648200" y="3152775"/>
            <a:ext cx="68008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6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路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ADC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（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4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轴摇杆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+ LT/RT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扳机）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+ 15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个按键</a:t>
            </a:r>
            <a:endParaRPr/>
          </a:p>
        </p:txBody>
      </p:sp>
      <p:sp>
        <p:nvSpPr>
          <p:cNvPr id="93" name="矩形: 圆角 92"/>
          <p:cNvSpPr/>
          <p:nvPr/>
        </p:nvSpPr>
        <p:spPr>
          <a:xfrm>
            <a:off x="3810000" y="3552825"/>
            <a:ext cx="78105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7150" dist="9525" dir="540000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3981450" y="3629025"/>
            <a:ext cx="533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Source Han Sans CN"/>
                <a:ea typeface="Source Han Sans CN"/>
              </a:rPr>
              <a:t>显示</a:t>
            </a:r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4648200" y="3629025"/>
            <a:ext cx="68008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0.96" OLED 128×64 ·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软件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I2C PB12 / PB13</a:t>
            </a:r>
            <a:endParaRPr/>
          </a:p>
        </p:txBody>
      </p:sp>
      <p:sp>
        <p:nvSpPr>
          <p:cNvPr id="96" name="矩形: 圆角 95"/>
          <p:cNvSpPr/>
          <p:nvPr/>
        </p:nvSpPr>
        <p:spPr>
          <a:xfrm>
            <a:off x="3810000" y="4029075"/>
            <a:ext cx="78105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7150" dist="9525" dir="540000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3981450" y="4105275"/>
            <a:ext cx="533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Source Han Sans CN"/>
                <a:ea typeface="Source Han Sans CN"/>
              </a:rPr>
              <a:t>指示</a:t>
            </a:r>
            <a:endParaRPr/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4648200" y="4105275"/>
            <a:ext cx="68008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WS2812B ×3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氛围灯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· DIN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接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PA8</a:t>
            </a:r>
            <a:endParaRPr/>
          </a:p>
        </p:txBody>
      </p:sp>
      <p:sp>
        <p:nvSpPr>
          <p:cNvPr id="99" name="矩形 98"/>
          <p:cNvSpPr/>
          <p:nvPr/>
        </p:nvSpPr>
        <p:spPr>
          <a:xfrm>
            <a:off x="3810000" y="4619625"/>
            <a:ext cx="38100" cy="152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3943350" y="4581525"/>
            <a:ext cx="9048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Source Han Sans CN"/>
                <a:ea typeface="Source Han Sans CN"/>
              </a:rPr>
              <a:t>通信与固件</a:t>
            </a:r>
            <a:endParaRPr/>
          </a:p>
        </p:txBody>
      </p:sp>
      <p:sp>
        <p:nvSpPr>
          <p:cNvPr id="101" name="矩形: 圆角 100"/>
          <p:cNvSpPr/>
          <p:nvPr/>
        </p:nvSpPr>
        <p:spPr>
          <a:xfrm>
            <a:off x="3810000" y="4857750"/>
            <a:ext cx="78105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7150" dist="9525" dir="540000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3981450" y="4933950"/>
            <a:ext cx="533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Source Han Sans CN"/>
                <a:ea typeface="Source Han Sans CN"/>
              </a:rPr>
              <a:t>USB</a:t>
            </a:r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4648200" y="4933950"/>
            <a:ext cx="68008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HID 8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字节报告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· 100 Hz ·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免驱即插即用</a:t>
            </a:r>
            <a:endParaRPr/>
          </a:p>
        </p:txBody>
      </p:sp>
      <p:sp>
        <p:nvSpPr>
          <p:cNvPr id="104" name="矩形: 圆角 103"/>
          <p:cNvSpPr/>
          <p:nvPr/>
        </p:nvSpPr>
        <p:spPr>
          <a:xfrm>
            <a:off x="3810000" y="5334000"/>
            <a:ext cx="78105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7150" dist="9525" dir="540000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3981450" y="5410200"/>
            <a:ext cx="533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Source Han Sans CN"/>
                <a:ea typeface="Source Han Sans CN"/>
              </a:rPr>
              <a:t>蓝牙</a:t>
            </a:r>
            <a:endParaRPr/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4648200" y="5410200"/>
            <a:ext cx="68008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HC-05 · UART1 115200 · CSV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文本帧</a:t>
            </a:r>
            <a:endParaRPr/>
          </a:p>
        </p:txBody>
      </p:sp>
      <p:sp>
        <p:nvSpPr>
          <p:cNvPr id="107" name="矩形: 圆角 106"/>
          <p:cNvSpPr/>
          <p:nvPr/>
        </p:nvSpPr>
        <p:spPr>
          <a:xfrm>
            <a:off x="3810000" y="5810250"/>
            <a:ext cx="78105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7150" dist="9525" dir="540000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3981450" y="5886450"/>
            <a:ext cx="533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Source Han Sans CN"/>
                <a:ea typeface="Source Han Sans CN"/>
              </a:rPr>
              <a:t>固件</a:t>
            </a:r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4648200" y="5886450"/>
            <a:ext cx="68008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C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语言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· </a:t>
            </a:r>
            <a:r>
              <a:rPr lang="zh-CN" sz="1200">
                <a:solidFill>
                  <a:srgbClr val="334155"/>
                </a:solidFill>
                <a:latin typeface="Source Han Sans CN"/>
                <a:ea typeface="Source Han Sans CN"/>
              </a:rPr>
              <a:t>标准外设库</a:t>
            </a:r>
            <a:r>
              <a:rPr lang="en-US" sz="1200">
                <a:solidFill>
                  <a:srgbClr val="334155"/>
                </a:solidFill>
                <a:latin typeface="Source Han Sans CN"/>
                <a:ea typeface="Source Han Sans CN"/>
              </a:rPr>
              <a:t> · Code≈19 KB · 0 Error 0 Warning</a:t>
            </a:r>
            <a:endParaRPr/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571500" y="6400800"/>
            <a:ext cx="2057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STM32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双模游戏手柄</a:t>
            </a: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 · </a:t>
            </a:r>
            <a:r>
              <a:rPr lang="zh-CN" sz="1050">
                <a:solidFill>
                  <a:srgbClr val="64748B"/>
                </a:solidFill>
                <a:latin typeface="JetBrains Mono"/>
                <a:ea typeface="JetBrains Mono"/>
              </a:rPr>
              <a:t>成果展示</a:t>
            </a:r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11058525" y="64008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12 / 13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position: 'relative', background: '#0F172A' }}&gt;&#10;  &lt;Image src=&quot;assets/pcba_3d.png&quot; style={{ position: 'absolute', top: 0, left: 0, width: '1280px', height: '720px', objectFit: 'cover', opacity: 0.42 }} /&gt;&#10;  &lt;Box style={{ position: 'absolute', top: 0, left: 0, width: '1280px', height: '720px', background: 'linear-gradient(90deg, rgba(15,23,42,0.94) 0%, rgba(15,23,42,0.72) 55%, rgba(15,23,42,0.35) 100%)' }} /&gt;&#10;  &lt;Box style={{ position: 'relative', zIndex: 2, width: '840px', height: '720px', padding: '80px 60px', flexDirection: 'column', justifyContent: 'center', gap: 26 }}&gt;&#10;    &lt;Box style={{ width: 64, height: 6, background: '#2563EB' }} /&gt;&#10;    &lt;Text style={{ fontSize: 48, fontWeight: 'bold', color: '#FFFFFF', lineHeight: 1.3, fontFamily: 'Source Han Sans CN, sans-serif' }}&gt;&#10;      从一张原理图&lt;br /&gt;到一块能用的手柄&#10;    &lt;/Text&gt;&#10;    &lt;Text style={{ fontSize: 26, color: '#93C5FD', lineHeight: 1.45, fontFamily: 'Source Han Sans CN, sans-serif' }}&gt;&#10;      原理图 · PCB · 固件 · 调试，全部独立完成。&#10;    &lt;/Text&gt;&#10;    &lt;Box style={{ marginTop: 20, flexDirection: 'row', gap: 36 }}&gt;&#10;      &lt;Box style={{ flexDirection: 'column', gap: 4 }}&gt;&#10;        &lt;Text style={{ fontSize: 14, color: '#64748B', fontFamily: 'JetBrains Mono, monospace' }}&gt;GITHUB&lt;/Text&gt;&#10;        &lt;Text style={{ fontSize: 17, color: '#E2E8F0', fontFamily: 'JetBrains Mono, monospace' }}&gt;stm32-gamepad&lt;/Text&gt;&#10;      &lt;/Box&gt;&#10;      &lt;Box style={{ flexDirection: 'column', gap: 4 }}&gt;&#10;        &lt;Text style={{ fontSize: 14, color: '#64748B', fontFamily: 'JetBrains Mono, monospace' }}&gt;STACK&lt;/Text&gt;&#10;        &lt;Text style={{ fontSize: 17, color: '#E2E8F0', fontFamily: 'JetBrains Mono, monospace' }}&gt;C · Keil · STM32F103 · 标准外设库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矩形 1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4" name="图片 113"/>
          <p:cNvPicPr>
            <a:picLocks noChangeAspect="1"/>
          </p:cNvPicPr>
          <p:nvPr/>
        </p:nvPicPr>
        <p:blipFill>
          <a:blip r:embed="rId2">
            <a:alphaModFix amt="42000"/>
          </a:blip>
          <a:srcRect t="9035" b="90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15" name="矩形 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94000"/>
                </a:srgbClr>
              </a:gs>
              <a:gs pos="55000">
                <a:srgbClr val="0F172A">
                  <a:alpha val="72000"/>
                </a:srgbClr>
              </a:gs>
              <a:gs pos="100000">
                <a:srgbClr val="0F172A">
                  <a:alpha val="3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16" name="矩形 115"/>
          <p:cNvSpPr/>
          <p:nvPr/>
        </p:nvSpPr>
        <p:spPr>
          <a:xfrm>
            <a:off x="571500" y="1800225"/>
            <a:ext cx="60960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571500" y="2105025"/>
            <a:ext cx="6858000" cy="1428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zh-CN" sz="3600" b="1">
                <a:solidFill>
                  <a:srgbClr val="FFFFFF"/>
                </a:solidFill>
                <a:latin typeface="Source Han Sans CN"/>
                <a:ea typeface="Source Han Sans CN"/>
              </a:rPr>
              <a:t>从一张原理图</a:t>
            </a:r>
            <a:endParaRPr/>
          </a:p>
          <a:p>
            <a:pPr>
              <a:lnSpc>
                <a:spcPct val="130000"/>
              </a:lnSpc>
            </a:pPr>
            <a:r>
              <a:rPr lang="zh-CN" sz="3600" b="1">
                <a:solidFill>
                  <a:srgbClr val="FFFFFF"/>
                </a:solidFill>
                <a:latin typeface="Source Han Sans CN"/>
                <a:ea typeface="Source Han Sans CN"/>
              </a:rPr>
              <a:t>到一块能用的手柄</a:t>
            </a:r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571500" y="3781425"/>
            <a:ext cx="685800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950">
                <a:solidFill>
                  <a:srgbClr val="93C5FD"/>
                </a:solidFill>
                <a:latin typeface="Source Han Sans CN"/>
                <a:ea typeface="Source Han Sans CN"/>
              </a:rPr>
              <a:t>基于博主开源原理图 · PCB 打样 · 固件 · 调试。</a:t>
            </a:r>
            <a:r>
              <a:rPr lang="en-US" sz="1950">
                <a:solidFill>
                  <a:srgbClr val="93C5FD"/>
                </a:solidFill>
                <a:latin typeface="Source Han Sans CN"/>
                <a:ea typeface="Source Han Sans CN"/>
              </a:rPr>
              <a:t/>
            </a:r>
            <a:r>
              <a:rPr lang="zh-CN" sz="1950">
                <a:solidFill>
                  <a:srgbClr val="93C5FD"/>
                </a:solidFill>
                <a:latin typeface="Source Han Sans CN"/>
                <a:ea typeface="Source Han Sans CN"/>
              </a:rPr>
              <a:t/>
            </a:r>
            <a:r>
              <a:rPr lang="en-US" sz="1950">
                <a:solidFill>
                  <a:srgbClr val="93C5FD"/>
                </a:solidFill>
                <a:latin typeface="Source Han Sans CN"/>
                <a:ea typeface="Source Han Sans CN"/>
              </a:rPr>
              <a:t/>
            </a:r>
            <a:r>
              <a:rPr lang="zh-CN" sz="1950">
                <a:solidFill>
                  <a:srgbClr val="93C5FD"/>
                </a:solidFill>
                <a:latin typeface="Source Han Sans CN"/>
                <a:ea typeface="Source Han Sans CN"/>
              </a:rPr>
              <a:t/>
            </a:r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571500" y="4657725"/>
            <a:ext cx="12668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GITHUB</a:t>
            </a:r>
            <a:endParaRPr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571500" y="4857750"/>
            <a:ext cx="12668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E2E8F0"/>
                </a:solidFill>
                <a:latin typeface="JetBrains Mono"/>
                <a:ea typeface="JetBrains Mono"/>
              </a:rPr>
              <a:t>stm32-gamepad</a:t>
            </a:r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2181225" y="4657725"/>
            <a:ext cx="3048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STACK</a:t>
            </a:r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2181225" y="4857750"/>
            <a:ext cx="3048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E2E8F0"/>
                </a:solidFill>
                <a:latin typeface="JetBrains Mono"/>
                <a:ea typeface="JetBrains Mono"/>
              </a:rPr>
              <a:t>C · Keil · STM32F103 · </a:t>
            </a:r>
            <a:r>
              <a:rPr lang="zh-CN" sz="1275">
                <a:solidFill>
                  <a:srgbClr val="E2E8F0"/>
                </a:solidFill>
                <a:latin typeface="JetBrains Mono"/>
                <a:ea typeface="JetBrains Mono"/>
              </a:rPr>
              <a:t>标准外设库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1903</Words>
  <Application>Microsoft Office PowerPoint</Application>
  <PresentationFormat>宽屏</PresentationFormat>
  <Paragraphs>259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JetBrains Mono</vt:lpstr>
      <vt:lpstr>Source Han Sans CN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chen wuping</cp:lastModifiedBy>
  <cp:revision>1</cp:revision>
  <dcterms:created xsi:type="dcterms:W3CDTF">2026-09-15T09:26:12Z</dcterms:created>
  <dcterms:modified xsi:type="dcterms:W3CDTF">2026-09-15T02:51:19Z</dcterms:modified>
</cp:coreProperties>
</file>